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43891200" cy="3291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6" roundtripDataSignature="AMtx7mgNKo57YG2AikSMUZs7guukrqYXc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0F44570-902D-2DF5-11C5-3198EFB33F72}" name="Chantel Prat" initials="CP" userId="S::csprat@uw.edu::0700e818-124d-427c-8776-2f66691e710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78B4"/>
    <a:srgbClr val="E31A1C"/>
    <a:srgbClr val="FA7E7E"/>
    <a:srgbClr val="FB9A99"/>
    <a:srgbClr val="33A02C"/>
    <a:srgbClr val="B2DF8A"/>
    <a:srgbClr val="DFDDE8"/>
    <a:srgbClr val="A6CEE3"/>
    <a:srgbClr val="351E6F"/>
    <a:srgbClr val="A99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93" autoAdjust="0"/>
    <p:restoredTop sz="95827" autoAdjust="0"/>
  </p:normalViewPr>
  <p:slideViewPr>
    <p:cSldViewPr snapToGrid="0">
      <p:cViewPr varScale="1">
        <p:scale>
          <a:sx n="24" d="100"/>
          <a:sy n="24" d="100"/>
        </p:scale>
        <p:origin x="2200" y="216"/>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11" Type="http://schemas.microsoft.com/office/2018/10/relationships/authors" Target="authors.xml"/><Relationship Id="rId10" Type="http://schemas.openxmlformats.org/officeDocument/2006/relationships/tableStyles" Target="tableStyles.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633"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a:t>
            </a:r>
            <a:endParaRPr dirty="0"/>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3291840" y="5387344"/>
            <a:ext cx="37307520" cy="1146048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5600"/>
              <a:buFont typeface="Calibri"/>
              <a:buNone/>
              <a:defRPr sz="23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5486400" y="17289785"/>
            <a:ext cx="32918400" cy="794765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4000"/>
              </a:spcBef>
              <a:spcAft>
                <a:spcPts val="0"/>
              </a:spcAft>
              <a:buClr>
                <a:schemeClr val="dk1"/>
              </a:buClr>
              <a:buSzPts val="10240"/>
              <a:buNone/>
              <a:defRPr sz="9600"/>
            </a:lvl1pPr>
            <a:lvl2pPr lvl="1" algn="ctr">
              <a:lnSpc>
                <a:spcPct val="90000"/>
              </a:lnSpc>
              <a:spcBef>
                <a:spcPts val="2000"/>
              </a:spcBef>
              <a:spcAft>
                <a:spcPts val="0"/>
              </a:spcAft>
              <a:buClr>
                <a:schemeClr val="dk1"/>
              </a:buClr>
              <a:buSzPts val="8533"/>
              <a:buNone/>
              <a:defRPr sz="8000"/>
            </a:lvl2pPr>
            <a:lvl3pPr lvl="2" algn="ctr">
              <a:lnSpc>
                <a:spcPct val="90000"/>
              </a:lnSpc>
              <a:spcBef>
                <a:spcPts val="2000"/>
              </a:spcBef>
              <a:spcAft>
                <a:spcPts val="0"/>
              </a:spcAft>
              <a:buClr>
                <a:schemeClr val="dk1"/>
              </a:buClr>
              <a:buSzPts val="7680"/>
              <a:buNone/>
              <a:defRPr sz="7200"/>
            </a:lvl3pPr>
            <a:lvl4pPr lvl="3" algn="ctr">
              <a:lnSpc>
                <a:spcPct val="90000"/>
              </a:lnSpc>
              <a:spcBef>
                <a:spcPts val="2000"/>
              </a:spcBef>
              <a:spcAft>
                <a:spcPts val="0"/>
              </a:spcAft>
              <a:buClr>
                <a:schemeClr val="dk1"/>
              </a:buClr>
              <a:buSzPts val="6827"/>
              <a:buNone/>
              <a:defRPr sz="6399"/>
            </a:lvl4pPr>
            <a:lvl5pPr lvl="4" algn="ctr">
              <a:lnSpc>
                <a:spcPct val="90000"/>
              </a:lnSpc>
              <a:spcBef>
                <a:spcPts val="2000"/>
              </a:spcBef>
              <a:spcAft>
                <a:spcPts val="0"/>
              </a:spcAft>
              <a:buClr>
                <a:schemeClr val="dk1"/>
              </a:buClr>
              <a:buSzPts val="6827"/>
              <a:buNone/>
              <a:defRPr sz="6399"/>
            </a:lvl5pPr>
            <a:lvl6pPr lvl="5" algn="ctr">
              <a:lnSpc>
                <a:spcPct val="90000"/>
              </a:lnSpc>
              <a:spcBef>
                <a:spcPts val="2000"/>
              </a:spcBef>
              <a:spcAft>
                <a:spcPts val="0"/>
              </a:spcAft>
              <a:buClr>
                <a:schemeClr val="dk1"/>
              </a:buClr>
              <a:buSzPts val="6827"/>
              <a:buNone/>
              <a:defRPr sz="6399"/>
            </a:lvl6pPr>
            <a:lvl7pPr lvl="6" algn="ctr">
              <a:lnSpc>
                <a:spcPct val="90000"/>
              </a:lnSpc>
              <a:spcBef>
                <a:spcPts val="2000"/>
              </a:spcBef>
              <a:spcAft>
                <a:spcPts val="0"/>
              </a:spcAft>
              <a:buClr>
                <a:schemeClr val="dk1"/>
              </a:buClr>
              <a:buSzPts val="6827"/>
              <a:buNone/>
              <a:defRPr sz="6399"/>
            </a:lvl7pPr>
            <a:lvl8pPr lvl="7" algn="ctr">
              <a:lnSpc>
                <a:spcPct val="90000"/>
              </a:lnSpc>
              <a:spcBef>
                <a:spcPts val="2000"/>
              </a:spcBef>
              <a:spcAft>
                <a:spcPts val="0"/>
              </a:spcAft>
              <a:buClr>
                <a:schemeClr val="dk1"/>
              </a:buClr>
              <a:buSzPts val="6827"/>
              <a:buNone/>
              <a:defRPr sz="6399"/>
            </a:lvl8pPr>
            <a:lvl9pPr lvl="8" algn="ctr">
              <a:lnSpc>
                <a:spcPct val="90000"/>
              </a:lnSpc>
              <a:spcBef>
                <a:spcPts val="2000"/>
              </a:spcBef>
              <a:spcAft>
                <a:spcPts val="0"/>
              </a:spcAft>
              <a:buClr>
                <a:schemeClr val="dk1"/>
              </a:buClr>
              <a:buSzPts val="6827"/>
              <a:buNone/>
              <a:defRPr sz="6399"/>
            </a:lvl9pPr>
          </a:lstStyle>
          <a:p>
            <a:endParaRPr/>
          </a:p>
        </p:txBody>
      </p:sp>
      <p:sp>
        <p:nvSpPr>
          <p:cNvPr id="14" name="Google Shape;14;p3"/>
          <p:cNvSpPr txBox="1">
            <a:spLocks noGrp="1"/>
          </p:cNvSpPr>
          <p:nvPr>
            <p:ph type="dt" idx="10"/>
          </p:nvPr>
        </p:nvSpPr>
        <p:spPr>
          <a:xfrm>
            <a:off x="3017520" y="30510490"/>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14538960" y="30510490"/>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30998161" y="30510490"/>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3023238" y="1752610"/>
            <a:ext cx="37856159"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3023242" y="8069582"/>
            <a:ext cx="18568032" cy="3954778"/>
          </a:xfrm>
          <a:prstGeom prst="rect">
            <a:avLst/>
          </a:prstGeom>
          <a:noFill/>
          <a:ln>
            <a:noFill/>
          </a:ln>
        </p:spPr>
        <p:txBody>
          <a:bodyPr spcFirstLastPara="1" wrap="square" lIns="91425" tIns="45700" rIns="91425" bIns="45700" anchor="b" anchorCtr="0">
            <a:normAutofit/>
          </a:bodyPr>
          <a:lstStyle>
            <a:lvl1pPr marL="428608" lvl="0" indent="-214304" algn="l">
              <a:lnSpc>
                <a:spcPct val="90000"/>
              </a:lnSpc>
              <a:spcBef>
                <a:spcPts val="4000"/>
              </a:spcBef>
              <a:spcAft>
                <a:spcPts val="0"/>
              </a:spcAft>
              <a:buClr>
                <a:schemeClr val="dk1"/>
              </a:buClr>
              <a:buSzPts val="10240"/>
              <a:buNone/>
              <a:defRPr sz="9600" b="1"/>
            </a:lvl1pPr>
            <a:lvl2pPr marL="857216" lvl="1" indent="-214304" algn="l">
              <a:lnSpc>
                <a:spcPct val="90000"/>
              </a:lnSpc>
              <a:spcBef>
                <a:spcPts val="2000"/>
              </a:spcBef>
              <a:spcAft>
                <a:spcPts val="0"/>
              </a:spcAft>
              <a:buClr>
                <a:schemeClr val="dk1"/>
              </a:buClr>
              <a:buSzPts val="8533"/>
              <a:buNone/>
              <a:defRPr sz="8000" b="1"/>
            </a:lvl2pPr>
            <a:lvl3pPr marL="1285824" lvl="2" indent="-214304" algn="l">
              <a:lnSpc>
                <a:spcPct val="90000"/>
              </a:lnSpc>
              <a:spcBef>
                <a:spcPts val="2000"/>
              </a:spcBef>
              <a:spcAft>
                <a:spcPts val="0"/>
              </a:spcAft>
              <a:buClr>
                <a:schemeClr val="dk1"/>
              </a:buClr>
              <a:buSzPts val="7680"/>
              <a:buNone/>
              <a:defRPr sz="7200" b="1"/>
            </a:lvl3pPr>
            <a:lvl4pPr marL="1714431" lvl="3" indent="-214304" algn="l">
              <a:lnSpc>
                <a:spcPct val="90000"/>
              </a:lnSpc>
              <a:spcBef>
                <a:spcPts val="2000"/>
              </a:spcBef>
              <a:spcAft>
                <a:spcPts val="0"/>
              </a:spcAft>
              <a:buClr>
                <a:schemeClr val="dk1"/>
              </a:buClr>
              <a:buSzPts val="6827"/>
              <a:buNone/>
              <a:defRPr sz="6399" b="1"/>
            </a:lvl4pPr>
            <a:lvl5pPr marL="2143039" lvl="4" indent="-214304" algn="l">
              <a:lnSpc>
                <a:spcPct val="90000"/>
              </a:lnSpc>
              <a:spcBef>
                <a:spcPts val="2000"/>
              </a:spcBef>
              <a:spcAft>
                <a:spcPts val="0"/>
              </a:spcAft>
              <a:buClr>
                <a:schemeClr val="dk1"/>
              </a:buClr>
              <a:buSzPts val="6827"/>
              <a:buNone/>
              <a:defRPr sz="6399" b="1"/>
            </a:lvl5pPr>
            <a:lvl6pPr marL="2571647" lvl="5" indent="-214304" algn="l">
              <a:lnSpc>
                <a:spcPct val="90000"/>
              </a:lnSpc>
              <a:spcBef>
                <a:spcPts val="2000"/>
              </a:spcBef>
              <a:spcAft>
                <a:spcPts val="0"/>
              </a:spcAft>
              <a:buClr>
                <a:schemeClr val="dk1"/>
              </a:buClr>
              <a:buSzPts val="6827"/>
              <a:buNone/>
              <a:defRPr sz="6399" b="1"/>
            </a:lvl6pPr>
            <a:lvl7pPr marL="3000255" lvl="6" indent="-214304" algn="l">
              <a:lnSpc>
                <a:spcPct val="90000"/>
              </a:lnSpc>
              <a:spcBef>
                <a:spcPts val="2000"/>
              </a:spcBef>
              <a:spcAft>
                <a:spcPts val="0"/>
              </a:spcAft>
              <a:buClr>
                <a:schemeClr val="dk1"/>
              </a:buClr>
              <a:buSzPts val="6827"/>
              <a:buNone/>
              <a:defRPr sz="6399" b="1"/>
            </a:lvl7pPr>
            <a:lvl8pPr marL="3428863" lvl="7" indent="-214304" algn="l">
              <a:lnSpc>
                <a:spcPct val="90000"/>
              </a:lnSpc>
              <a:spcBef>
                <a:spcPts val="2000"/>
              </a:spcBef>
              <a:spcAft>
                <a:spcPts val="0"/>
              </a:spcAft>
              <a:buClr>
                <a:schemeClr val="dk1"/>
              </a:buClr>
              <a:buSzPts val="6827"/>
              <a:buNone/>
              <a:defRPr sz="6399" b="1"/>
            </a:lvl8pPr>
            <a:lvl9pPr marL="3857471" lvl="8" indent="-214304" algn="l">
              <a:lnSpc>
                <a:spcPct val="90000"/>
              </a:lnSpc>
              <a:spcBef>
                <a:spcPts val="2000"/>
              </a:spcBef>
              <a:spcAft>
                <a:spcPts val="0"/>
              </a:spcAft>
              <a:buClr>
                <a:schemeClr val="dk1"/>
              </a:buClr>
              <a:buSzPts val="6827"/>
              <a:buNone/>
              <a:defRPr sz="6399" b="1"/>
            </a:lvl9pPr>
          </a:lstStyle>
          <a:p>
            <a:endParaRPr/>
          </a:p>
        </p:txBody>
      </p:sp>
      <p:sp>
        <p:nvSpPr>
          <p:cNvPr id="39" name="Google Shape;39;p7"/>
          <p:cNvSpPr txBox="1">
            <a:spLocks noGrp="1"/>
          </p:cNvSpPr>
          <p:nvPr>
            <p:ph type="body" idx="2"/>
          </p:nvPr>
        </p:nvSpPr>
        <p:spPr>
          <a:xfrm>
            <a:off x="3023242" y="12024363"/>
            <a:ext cx="18568032" cy="17686023"/>
          </a:xfrm>
          <a:prstGeom prst="rect">
            <a:avLst/>
          </a:prstGeom>
          <a:noFill/>
          <a:ln>
            <a:noFill/>
          </a:ln>
        </p:spPr>
        <p:txBody>
          <a:bodyPr spcFirstLastPara="1" wrap="square" lIns="91425" tIns="45700" rIns="91425" bIns="45700" anchor="t" anchorCtr="0">
            <a:normAutofit/>
          </a:bodyPr>
          <a:lstStyle>
            <a:lvl1pPr marL="428608" lvl="0" indent="-321456" algn="l">
              <a:lnSpc>
                <a:spcPct val="90000"/>
              </a:lnSpc>
              <a:spcBef>
                <a:spcPts val="4000"/>
              </a:spcBef>
              <a:spcAft>
                <a:spcPts val="0"/>
              </a:spcAft>
              <a:buClr>
                <a:schemeClr val="dk1"/>
              </a:buClr>
              <a:buSzPts val="1800"/>
              <a:buChar char="•"/>
              <a:defRPr/>
            </a:lvl1pPr>
            <a:lvl2pPr marL="857216" lvl="1" indent="-321456" algn="l">
              <a:lnSpc>
                <a:spcPct val="90000"/>
              </a:lnSpc>
              <a:spcBef>
                <a:spcPts val="2000"/>
              </a:spcBef>
              <a:spcAft>
                <a:spcPts val="0"/>
              </a:spcAft>
              <a:buClr>
                <a:schemeClr val="dk1"/>
              </a:buClr>
              <a:buSzPts val="1800"/>
              <a:buChar char="•"/>
              <a:defRPr/>
            </a:lvl2pPr>
            <a:lvl3pPr marL="1285824" lvl="2" indent="-321456" algn="l">
              <a:lnSpc>
                <a:spcPct val="90000"/>
              </a:lnSpc>
              <a:spcBef>
                <a:spcPts val="2000"/>
              </a:spcBef>
              <a:spcAft>
                <a:spcPts val="0"/>
              </a:spcAft>
              <a:buClr>
                <a:schemeClr val="dk1"/>
              </a:buClr>
              <a:buSzPts val="1800"/>
              <a:buChar char="•"/>
              <a:defRPr/>
            </a:lvl3pPr>
            <a:lvl4pPr marL="1714431" lvl="3" indent="-321456" algn="l">
              <a:lnSpc>
                <a:spcPct val="90000"/>
              </a:lnSpc>
              <a:spcBef>
                <a:spcPts val="2000"/>
              </a:spcBef>
              <a:spcAft>
                <a:spcPts val="0"/>
              </a:spcAft>
              <a:buClr>
                <a:schemeClr val="dk1"/>
              </a:buClr>
              <a:buSzPts val="1800"/>
              <a:buChar char="•"/>
              <a:defRPr/>
            </a:lvl4pPr>
            <a:lvl5pPr marL="2143039" lvl="4" indent="-321456" algn="l">
              <a:lnSpc>
                <a:spcPct val="90000"/>
              </a:lnSpc>
              <a:spcBef>
                <a:spcPts val="2000"/>
              </a:spcBef>
              <a:spcAft>
                <a:spcPts val="0"/>
              </a:spcAft>
              <a:buClr>
                <a:schemeClr val="dk1"/>
              </a:buClr>
              <a:buSzPts val="1800"/>
              <a:buChar char="•"/>
              <a:defRPr/>
            </a:lvl5pPr>
            <a:lvl6pPr marL="2571647" lvl="5" indent="-321456" algn="l">
              <a:lnSpc>
                <a:spcPct val="90000"/>
              </a:lnSpc>
              <a:spcBef>
                <a:spcPts val="2000"/>
              </a:spcBef>
              <a:spcAft>
                <a:spcPts val="0"/>
              </a:spcAft>
              <a:buClr>
                <a:schemeClr val="dk1"/>
              </a:buClr>
              <a:buSzPts val="1800"/>
              <a:buChar char="•"/>
              <a:defRPr/>
            </a:lvl6pPr>
            <a:lvl7pPr marL="3000255" lvl="6" indent="-321456" algn="l">
              <a:lnSpc>
                <a:spcPct val="90000"/>
              </a:lnSpc>
              <a:spcBef>
                <a:spcPts val="2000"/>
              </a:spcBef>
              <a:spcAft>
                <a:spcPts val="0"/>
              </a:spcAft>
              <a:buClr>
                <a:schemeClr val="dk1"/>
              </a:buClr>
              <a:buSzPts val="1800"/>
              <a:buChar char="•"/>
              <a:defRPr/>
            </a:lvl7pPr>
            <a:lvl8pPr marL="3428863" lvl="7" indent="-321456" algn="l">
              <a:lnSpc>
                <a:spcPct val="90000"/>
              </a:lnSpc>
              <a:spcBef>
                <a:spcPts val="2000"/>
              </a:spcBef>
              <a:spcAft>
                <a:spcPts val="0"/>
              </a:spcAft>
              <a:buClr>
                <a:schemeClr val="dk1"/>
              </a:buClr>
              <a:buSzPts val="1800"/>
              <a:buChar char="•"/>
              <a:defRPr/>
            </a:lvl8pPr>
            <a:lvl9pPr marL="3857471" lvl="8" indent="-321456" algn="l">
              <a:lnSpc>
                <a:spcPct val="90000"/>
              </a:lnSpc>
              <a:spcBef>
                <a:spcPts val="20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22219925" y="8069582"/>
            <a:ext cx="18659477" cy="3954778"/>
          </a:xfrm>
          <a:prstGeom prst="rect">
            <a:avLst/>
          </a:prstGeom>
          <a:noFill/>
          <a:ln>
            <a:noFill/>
          </a:ln>
        </p:spPr>
        <p:txBody>
          <a:bodyPr spcFirstLastPara="1" wrap="square" lIns="91425" tIns="45700" rIns="91425" bIns="45700" anchor="b" anchorCtr="0">
            <a:normAutofit/>
          </a:bodyPr>
          <a:lstStyle>
            <a:lvl1pPr marL="428608" lvl="0" indent="-214304" algn="l">
              <a:lnSpc>
                <a:spcPct val="90000"/>
              </a:lnSpc>
              <a:spcBef>
                <a:spcPts val="4000"/>
              </a:spcBef>
              <a:spcAft>
                <a:spcPts val="0"/>
              </a:spcAft>
              <a:buClr>
                <a:schemeClr val="dk1"/>
              </a:buClr>
              <a:buSzPts val="10240"/>
              <a:buNone/>
              <a:defRPr sz="9600" b="1"/>
            </a:lvl1pPr>
            <a:lvl2pPr marL="857216" lvl="1" indent="-214304" algn="l">
              <a:lnSpc>
                <a:spcPct val="90000"/>
              </a:lnSpc>
              <a:spcBef>
                <a:spcPts val="2000"/>
              </a:spcBef>
              <a:spcAft>
                <a:spcPts val="0"/>
              </a:spcAft>
              <a:buClr>
                <a:schemeClr val="dk1"/>
              </a:buClr>
              <a:buSzPts val="8533"/>
              <a:buNone/>
              <a:defRPr sz="8000" b="1"/>
            </a:lvl2pPr>
            <a:lvl3pPr marL="1285824" lvl="2" indent="-214304" algn="l">
              <a:lnSpc>
                <a:spcPct val="90000"/>
              </a:lnSpc>
              <a:spcBef>
                <a:spcPts val="2000"/>
              </a:spcBef>
              <a:spcAft>
                <a:spcPts val="0"/>
              </a:spcAft>
              <a:buClr>
                <a:schemeClr val="dk1"/>
              </a:buClr>
              <a:buSzPts val="7680"/>
              <a:buNone/>
              <a:defRPr sz="7200" b="1"/>
            </a:lvl3pPr>
            <a:lvl4pPr marL="1714431" lvl="3" indent="-214304" algn="l">
              <a:lnSpc>
                <a:spcPct val="90000"/>
              </a:lnSpc>
              <a:spcBef>
                <a:spcPts val="2000"/>
              </a:spcBef>
              <a:spcAft>
                <a:spcPts val="0"/>
              </a:spcAft>
              <a:buClr>
                <a:schemeClr val="dk1"/>
              </a:buClr>
              <a:buSzPts val="6827"/>
              <a:buNone/>
              <a:defRPr sz="6399" b="1"/>
            </a:lvl4pPr>
            <a:lvl5pPr marL="2143039" lvl="4" indent="-214304" algn="l">
              <a:lnSpc>
                <a:spcPct val="90000"/>
              </a:lnSpc>
              <a:spcBef>
                <a:spcPts val="2000"/>
              </a:spcBef>
              <a:spcAft>
                <a:spcPts val="0"/>
              </a:spcAft>
              <a:buClr>
                <a:schemeClr val="dk1"/>
              </a:buClr>
              <a:buSzPts val="6827"/>
              <a:buNone/>
              <a:defRPr sz="6399" b="1"/>
            </a:lvl5pPr>
            <a:lvl6pPr marL="2571647" lvl="5" indent="-214304" algn="l">
              <a:lnSpc>
                <a:spcPct val="90000"/>
              </a:lnSpc>
              <a:spcBef>
                <a:spcPts val="2000"/>
              </a:spcBef>
              <a:spcAft>
                <a:spcPts val="0"/>
              </a:spcAft>
              <a:buClr>
                <a:schemeClr val="dk1"/>
              </a:buClr>
              <a:buSzPts val="6827"/>
              <a:buNone/>
              <a:defRPr sz="6399" b="1"/>
            </a:lvl6pPr>
            <a:lvl7pPr marL="3000255" lvl="6" indent="-214304" algn="l">
              <a:lnSpc>
                <a:spcPct val="90000"/>
              </a:lnSpc>
              <a:spcBef>
                <a:spcPts val="2000"/>
              </a:spcBef>
              <a:spcAft>
                <a:spcPts val="0"/>
              </a:spcAft>
              <a:buClr>
                <a:schemeClr val="dk1"/>
              </a:buClr>
              <a:buSzPts val="6827"/>
              <a:buNone/>
              <a:defRPr sz="6399" b="1"/>
            </a:lvl7pPr>
            <a:lvl8pPr marL="3428863" lvl="7" indent="-214304" algn="l">
              <a:lnSpc>
                <a:spcPct val="90000"/>
              </a:lnSpc>
              <a:spcBef>
                <a:spcPts val="2000"/>
              </a:spcBef>
              <a:spcAft>
                <a:spcPts val="0"/>
              </a:spcAft>
              <a:buClr>
                <a:schemeClr val="dk1"/>
              </a:buClr>
              <a:buSzPts val="6827"/>
              <a:buNone/>
              <a:defRPr sz="6399" b="1"/>
            </a:lvl8pPr>
            <a:lvl9pPr marL="3857471" lvl="8" indent="-214304" algn="l">
              <a:lnSpc>
                <a:spcPct val="90000"/>
              </a:lnSpc>
              <a:spcBef>
                <a:spcPts val="2000"/>
              </a:spcBef>
              <a:spcAft>
                <a:spcPts val="0"/>
              </a:spcAft>
              <a:buClr>
                <a:schemeClr val="dk1"/>
              </a:buClr>
              <a:buSzPts val="6827"/>
              <a:buNone/>
              <a:defRPr sz="6399" b="1"/>
            </a:lvl9pPr>
          </a:lstStyle>
          <a:p>
            <a:endParaRPr/>
          </a:p>
        </p:txBody>
      </p:sp>
      <p:sp>
        <p:nvSpPr>
          <p:cNvPr id="41" name="Google Shape;41;p7"/>
          <p:cNvSpPr txBox="1">
            <a:spLocks noGrp="1"/>
          </p:cNvSpPr>
          <p:nvPr>
            <p:ph type="body" idx="4"/>
          </p:nvPr>
        </p:nvSpPr>
        <p:spPr>
          <a:xfrm>
            <a:off x="22219925" y="12024363"/>
            <a:ext cx="18659477" cy="17686023"/>
          </a:xfrm>
          <a:prstGeom prst="rect">
            <a:avLst/>
          </a:prstGeom>
          <a:noFill/>
          <a:ln>
            <a:noFill/>
          </a:ln>
        </p:spPr>
        <p:txBody>
          <a:bodyPr spcFirstLastPara="1" wrap="square" lIns="91425" tIns="45700" rIns="91425" bIns="45700" anchor="t" anchorCtr="0">
            <a:normAutofit/>
          </a:bodyPr>
          <a:lstStyle>
            <a:lvl1pPr marL="428608" lvl="0" indent="-321456" algn="l">
              <a:lnSpc>
                <a:spcPct val="90000"/>
              </a:lnSpc>
              <a:spcBef>
                <a:spcPts val="4000"/>
              </a:spcBef>
              <a:spcAft>
                <a:spcPts val="0"/>
              </a:spcAft>
              <a:buClr>
                <a:schemeClr val="dk1"/>
              </a:buClr>
              <a:buSzPts val="1800"/>
              <a:buChar char="•"/>
              <a:defRPr/>
            </a:lvl1pPr>
            <a:lvl2pPr marL="857216" lvl="1" indent="-321456" algn="l">
              <a:lnSpc>
                <a:spcPct val="90000"/>
              </a:lnSpc>
              <a:spcBef>
                <a:spcPts val="2000"/>
              </a:spcBef>
              <a:spcAft>
                <a:spcPts val="0"/>
              </a:spcAft>
              <a:buClr>
                <a:schemeClr val="dk1"/>
              </a:buClr>
              <a:buSzPts val="1800"/>
              <a:buChar char="•"/>
              <a:defRPr/>
            </a:lvl2pPr>
            <a:lvl3pPr marL="1285824" lvl="2" indent="-321456" algn="l">
              <a:lnSpc>
                <a:spcPct val="90000"/>
              </a:lnSpc>
              <a:spcBef>
                <a:spcPts val="2000"/>
              </a:spcBef>
              <a:spcAft>
                <a:spcPts val="0"/>
              </a:spcAft>
              <a:buClr>
                <a:schemeClr val="dk1"/>
              </a:buClr>
              <a:buSzPts val="1800"/>
              <a:buChar char="•"/>
              <a:defRPr/>
            </a:lvl3pPr>
            <a:lvl4pPr marL="1714431" lvl="3" indent="-321456" algn="l">
              <a:lnSpc>
                <a:spcPct val="90000"/>
              </a:lnSpc>
              <a:spcBef>
                <a:spcPts val="2000"/>
              </a:spcBef>
              <a:spcAft>
                <a:spcPts val="0"/>
              </a:spcAft>
              <a:buClr>
                <a:schemeClr val="dk1"/>
              </a:buClr>
              <a:buSzPts val="1800"/>
              <a:buChar char="•"/>
              <a:defRPr/>
            </a:lvl4pPr>
            <a:lvl5pPr marL="2143039" lvl="4" indent="-321456" algn="l">
              <a:lnSpc>
                <a:spcPct val="90000"/>
              </a:lnSpc>
              <a:spcBef>
                <a:spcPts val="2000"/>
              </a:spcBef>
              <a:spcAft>
                <a:spcPts val="0"/>
              </a:spcAft>
              <a:buClr>
                <a:schemeClr val="dk1"/>
              </a:buClr>
              <a:buSzPts val="1800"/>
              <a:buChar char="•"/>
              <a:defRPr/>
            </a:lvl5pPr>
            <a:lvl6pPr marL="2571647" lvl="5" indent="-321456" algn="l">
              <a:lnSpc>
                <a:spcPct val="90000"/>
              </a:lnSpc>
              <a:spcBef>
                <a:spcPts val="2000"/>
              </a:spcBef>
              <a:spcAft>
                <a:spcPts val="0"/>
              </a:spcAft>
              <a:buClr>
                <a:schemeClr val="dk1"/>
              </a:buClr>
              <a:buSzPts val="1800"/>
              <a:buChar char="•"/>
              <a:defRPr/>
            </a:lvl6pPr>
            <a:lvl7pPr marL="3000255" lvl="6" indent="-321456" algn="l">
              <a:lnSpc>
                <a:spcPct val="90000"/>
              </a:lnSpc>
              <a:spcBef>
                <a:spcPts val="2000"/>
              </a:spcBef>
              <a:spcAft>
                <a:spcPts val="0"/>
              </a:spcAft>
              <a:buClr>
                <a:schemeClr val="dk1"/>
              </a:buClr>
              <a:buSzPts val="1800"/>
              <a:buChar char="•"/>
              <a:defRPr/>
            </a:lvl7pPr>
            <a:lvl8pPr marL="3428863" lvl="7" indent="-321456" algn="l">
              <a:lnSpc>
                <a:spcPct val="90000"/>
              </a:lnSpc>
              <a:spcBef>
                <a:spcPts val="2000"/>
              </a:spcBef>
              <a:spcAft>
                <a:spcPts val="0"/>
              </a:spcAft>
              <a:buClr>
                <a:schemeClr val="dk1"/>
              </a:buClr>
              <a:buSzPts val="1800"/>
              <a:buChar char="•"/>
              <a:defRPr/>
            </a:lvl8pPr>
            <a:lvl9pPr marL="3857471" lvl="8" indent="-321456" algn="l">
              <a:lnSpc>
                <a:spcPct val="90000"/>
              </a:lnSpc>
              <a:spcBef>
                <a:spcPts val="20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3017520" y="30510490"/>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14538960" y="30510490"/>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30998161" y="30510490"/>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017523" y="1752610"/>
            <a:ext cx="37856159"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3017520" y="30510490"/>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14538960" y="30510490"/>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30998161" y="30510490"/>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3023238"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3653"/>
              <a:buFont typeface="Calibri"/>
              <a:buNone/>
              <a:defRPr sz="127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8659477" y="4739647"/>
            <a:ext cx="22219920" cy="23393401"/>
          </a:xfrm>
          <a:prstGeom prst="rect">
            <a:avLst/>
          </a:prstGeom>
          <a:noFill/>
          <a:ln>
            <a:noFill/>
          </a:ln>
        </p:spPr>
        <p:txBody>
          <a:bodyPr spcFirstLastPara="1" wrap="square" lIns="91425" tIns="45700" rIns="91425" bIns="45700" anchor="t" anchorCtr="0">
            <a:normAutofit/>
          </a:bodyPr>
          <a:lstStyle>
            <a:lvl1pPr marL="428608" lvl="0" indent="-1027051" algn="l">
              <a:lnSpc>
                <a:spcPct val="90000"/>
              </a:lnSpc>
              <a:spcBef>
                <a:spcPts val="4000"/>
              </a:spcBef>
              <a:spcAft>
                <a:spcPts val="0"/>
              </a:spcAft>
              <a:buClr>
                <a:schemeClr val="dk1"/>
              </a:buClr>
              <a:buSzPts val="13653"/>
              <a:buChar char="•"/>
              <a:defRPr sz="12799"/>
            </a:lvl1pPr>
            <a:lvl2pPr marL="857216" lvl="1" indent="-925495" algn="l">
              <a:lnSpc>
                <a:spcPct val="90000"/>
              </a:lnSpc>
              <a:spcBef>
                <a:spcPts val="2000"/>
              </a:spcBef>
              <a:spcAft>
                <a:spcPts val="0"/>
              </a:spcAft>
              <a:buClr>
                <a:schemeClr val="dk1"/>
              </a:buClr>
              <a:buSzPts val="11947"/>
              <a:buChar char="•"/>
              <a:defRPr sz="11200"/>
            </a:lvl2pPr>
            <a:lvl3pPr marL="1285824" lvl="2" indent="-823879" algn="l">
              <a:lnSpc>
                <a:spcPct val="90000"/>
              </a:lnSpc>
              <a:spcBef>
                <a:spcPts val="2000"/>
              </a:spcBef>
              <a:spcAft>
                <a:spcPts val="0"/>
              </a:spcAft>
              <a:buClr>
                <a:schemeClr val="dk1"/>
              </a:buClr>
              <a:buSzPts val="10240"/>
              <a:buChar char="•"/>
              <a:defRPr sz="9600"/>
            </a:lvl3pPr>
            <a:lvl4pPr marL="1714431" lvl="3" indent="-722264" algn="l">
              <a:lnSpc>
                <a:spcPct val="90000"/>
              </a:lnSpc>
              <a:spcBef>
                <a:spcPts val="2000"/>
              </a:spcBef>
              <a:spcAft>
                <a:spcPts val="0"/>
              </a:spcAft>
              <a:buClr>
                <a:schemeClr val="dk1"/>
              </a:buClr>
              <a:buSzPts val="8533"/>
              <a:buChar char="•"/>
              <a:defRPr sz="8000"/>
            </a:lvl4pPr>
            <a:lvl5pPr marL="2143039" lvl="4" indent="-722264" algn="l">
              <a:lnSpc>
                <a:spcPct val="90000"/>
              </a:lnSpc>
              <a:spcBef>
                <a:spcPts val="2000"/>
              </a:spcBef>
              <a:spcAft>
                <a:spcPts val="0"/>
              </a:spcAft>
              <a:buClr>
                <a:schemeClr val="dk1"/>
              </a:buClr>
              <a:buSzPts val="8533"/>
              <a:buChar char="•"/>
              <a:defRPr sz="8000"/>
            </a:lvl5pPr>
            <a:lvl6pPr marL="2571647" lvl="5" indent="-722264" algn="l">
              <a:lnSpc>
                <a:spcPct val="90000"/>
              </a:lnSpc>
              <a:spcBef>
                <a:spcPts val="2000"/>
              </a:spcBef>
              <a:spcAft>
                <a:spcPts val="0"/>
              </a:spcAft>
              <a:buClr>
                <a:schemeClr val="dk1"/>
              </a:buClr>
              <a:buSzPts val="8533"/>
              <a:buChar char="•"/>
              <a:defRPr sz="8000"/>
            </a:lvl6pPr>
            <a:lvl7pPr marL="3000255" lvl="6" indent="-722264" algn="l">
              <a:lnSpc>
                <a:spcPct val="90000"/>
              </a:lnSpc>
              <a:spcBef>
                <a:spcPts val="2000"/>
              </a:spcBef>
              <a:spcAft>
                <a:spcPts val="0"/>
              </a:spcAft>
              <a:buClr>
                <a:schemeClr val="dk1"/>
              </a:buClr>
              <a:buSzPts val="8533"/>
              <a:buChar char="•"/>
              <a:defRPr sz="8000"/>
            </a:lvl7pPr>
            <a:lvl8pPr marL="3428863" lvl="7" indent="-722264" algn="l">
              <a:lnSpc>
                <a:spcPct val="90000"/>
              </a:lnSpc>
              <a:spcBef>
                <a:spcPts val="2000"/>
              </a:spcBef>
              <a:spcAft>
                <a:spcPts val="0"/>
              </a:spcAft>
              <a:buClr>
                <a:schemeClr val="dk1"/>
              </a:buClr>
              <a:buSzPts val="8533"/>
              <a:buChar char="•"/>
              <a:defRPr sz="8000"/>
            </a:lvl8pPr>
            <a:lvl9pPr marL="3857471" lvl="8" indent="-722264" algn="l">
              <a:lnSpc>
                <a:spcPct val="90000"/>
              </a:lnSpc>
              <a:spcBef>
                <a:spcPts val="2000"/>
              </a:spcBef>
              <a:spcAft>
                <a:spcPts val="0"/>
              </a:spcAft>
              <a:buClr>
                <a:schemeClr val="dk1"/>
              </a:buClr>
              <a:buSzPts val="8533"/>
              <a:buChar char="•"/>
              <a:defRPr sz="8000"/>
            </a:lvl9pPr>
          </a:lstStyle>
          <a:p>
            <a:endParaRPr/>
          </a:p>
        </p:txBody>
      </p:sp>
      <p:sp>
        <p:nvSpPr>
          <p:cNvPr id="57" name="Google Shape;57;p10"/>
          <p:cNvSpPr txBox="1">
            <a:spLocks noGrp="1"/>
          </p:cNvSpPr>
          <p:nvPr>
            <p:ph type="body" idx="2"/>
          </p:nvPr>
        </p:nvSpPr>
        <p:spPr>
          <a:xfrm>
            <a:off x="3023238" y="9875523"/>
            <a:ext cx="14156054" cy="18295622"/>
          </a:xfrm>
          <a:prstGeom prst="rect">
            <a:avLst/>
          </a:prstGeom>
          <a:noFill/>
          <a:ln>
            <a:noFill/>
          </a:ln>
        </p:spPr>
        <p:txBody>
          <a:bodyPr spcFirstLastPara="1" wrap="square" lIns="91425" tIns="45700" rIns="91425" bIns="45700" anchor="t" anchorCtr="0">
            <a:normAutofit/>
          </a:bodyPr>
          <a:lstStyle>
            <a:lvl1pPr marL="428608" lvl="0" indent="-214304" algn="l">
              <a:lnSpc>
                <a:spcPct val="90000"/>
              </a:lnSpc>
              <a:spcBef>
                <a:spcPts val="4000"/>
              </a:spcBef>
              <a:spcAft>
                <a:spcPts val="0"/>
              </a:spcAft>
              <a:buClr>
                <a:schemeClr val="dk1"/>
              </a:buClr>
              <a:buSzPts val="6827"/>
              <a:buNone/>
              <a:defRPr sz="6399"/>
            </a:lvl1pPr>
            <a:lvl2pPr marL="857216" lvl="1" indent="-214304" algn="l">
              <a:lnSpc>
                <a:spcPct val="90000"/>
              </a:lnSpc>
              <a:spcBef>
                <a:spcPts val="2000"/>
              </a:spcBef>
              <a:spcAft>
                <a:spcPts val="0"/>
              </a:spcAft>
              <a:buClr>
                <a:schemeClr val="dk1"/>
              </a:buClr>
              <a:buSzPts val="5973"/>
              <a:buNone/>
              <a:defRPr sz="5600"/>
            </a:lvl2pPr>
            <a:lvl3pPr marL="1285824" lvl="2" indent="-214304" algn="l">
              <a:lnSpc>
                <a:spcPct val="90000"/>
              </a:lnSpc>
              <a:spcBef>
                <a:spcPts val="2000"/>
              </a:spcBef>
              <a:spcAft>
                <a:spcPts val="0"/>
              </a:spcAft>
              <a:buClr>
                <a:schemeClr val="dk1"/>
              </a:buClr>
              <a:buSzPts val="5120"/>
              <a:buNone/>
              <a:defRPr sz="4800"/>
            </a:lvl3pPr>
            <a:lvl4pPr marL="1714431" lvl="3" indent="-214304" algn="l">
              <a:lnSpc>
                <a:spcPct val="90000"/>
              </a:lnSpc>
              <a:spcBef>
                <a:spcPts val="2000"/>
              </a:spcBef>
              <a:spcAft>
                <a:spcPts val="0"/>
              </a:spcAft>
              <a:buClr>
                <a:schemeClr val="dk1"/>
              </a:buClr>
              <a:buSzPts val="4267"/>
              <a:buNone/>
              <a:defRPr sz="4000"/>
            </a:lvl4pPr>
            <a:lvl5pPr marL="2143039" lvl="4" indent="-214304" algn="l">
              <a:lnSpc>
                <a:spcPct val="90000"/>
              </a:lnSpc>
              <a:spcBef>
                <a:spcPts val="2000"/>
              </a:spcBef>
              <a:spcAft>
                <a:spcPts val="0"/>
              </a:spcAft>
              <a:buClr>
                <a:schemeClr val="dk1"/>
              </a:buClr>
              <a:buSzPts val="4267"/>
              <a:buNone/>
              <a:defRPr sz="4000"/>
            </a:lvl5pPr>
            <a:lvl6pPr marL="2571647" lvl="5" indent="-214304" algn="l">
              <a:lnSpc>
                <a:spcPct val="90000"/>
              </a:lnSpc>
              <a:spcBef>
                <a:spcPts val="2000"/>
              </a:spcBef>
              <a:spcAft>
                <a:spcPts val="0"/>
              </a:spcAft>
              <a:buClr>
                <a:schemeClr val="dk1"/>
              </a:buClr>
              <a:buSzPts val="4267"/>
              <a:buNone/>
              <a:defRPr sz="4000"/>
            </a:lvl6pPr>
            <a:lvl7pPr marL="3000255" lvl="6" indent="-214304" algn="l">
              <a:lnSpc>
                <a:spcPct val="90000"/>
              </a:lnSpc>
              <a:spcBef>
                <a:spcPts val="2000"/>
              </a:spcBef>
              <a:spcAft>
                <a:spcPts val="0"/>
              </a:spcAft>
              <a:buClr>
                <a:schemeClr val="dk1"/>
              </a:buClr>
              <a:buSzPts val="4267"/>
              <a:buNone/>
              <a:defRPr sz="4000"/>
            </a:lvl7pPr>
            <a:lvl8pPr marL="3428863" lvl="7" indent="-214304" algn="l">
              <a:lnSpc>
                <a:spcPct val="90000"/>
              </a:lnSpc>
              <a:spcBef>
                <a:spcPts val="2000"/>
              </a:spcBef>
              <a:spcAft>
                <a:spcPts val="0"/>
              </a:spcAft>
              <a:buClr>
                <a:schemeClr val="dk1"/>
              </a:buClr>
              <a:buSzPts val="4267"/>
              <a:buNone/>
              <a:defRPr sz="4000"/>
            </a:lvl8pPr>
            <a:lvl9pPr marL="3857471" lvl="8" indent="-214304" algn="l">
              <a:lnSpc>
                <a:spcPct val="90000"/>
              </a:lnSpc>
              <a:spcBef>
                <a:spcPts val="2000"/>
              </a:spcBef>
              <a:spcAft>
                <a:spcPts val="0"/>
              </a:spcAft>
              <a:buClr>
                <a:schemeClr val="dk1"/>
              </a:buClr>
              <a:buSzPts val="4267"/>
              <a:buNone/>
              <a:defRPr sz="4000"/>
            </a:lvl9pPr>
          </a:lstStyle>
          <a:p>
            <a:endParaRPr/>
          </a:p>
        </p:txBody>
      </p:sp>
      <p:sp>
        <p:nvSpPr>
          <p:cNvPr id="58" name="Google Shape;58;p10"/>
          <p:cNvSpPr txBox="1">
            <a:spLocks noGrp="1"/>
          </p:cNvSpPr>
          <p:nvPr>
            <p:ph type="dt" idx="10"/>
          </p:nvPr>
        </p:nvSpPr>
        <p:spPr>
          <a:xfrm>
            <a:off x="3017520" y="30510490"/>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4538960" y="30510490"/>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30998161" y="30510490"/>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3023238"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3653"/>
              <a:buFont typeface="Calibri"/>
              <a:buNone/>
              <a:defRPr sz="127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18659477" y="4739647"/>
            <a:ext cx="22219920" cy="2339340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4000"/>
              </a:spcBef>
              <a:spcAft>
                <a:spcPts val="0"/>
              </a:spcAft>
              <a:buClr>
                <a:schemeClr val="dk1"/>
              </a:buClr>
              <a:buSzPts val="13653"/>
              <a:buFont typeface="Arial"/>
              <a:buNone/>
              <a:defRPr sz="12799" b="0" i="0" u="none" strike="noStrike" cap="none">
                <a:solidFill>
                  <a:schemeClr val="dk1"/>
                </a:solidFill>
                <a:latin typeface="Calibri"/>
                <a:ea typeface="Calibri"/>
                <a:cs typeface="Calibri"/>
                <a:sym typeface="Calibri"/>
              </a:defRPr>
            </a:lvl1pPr>
            <a:lvl2pPr marR="0" lvl="1" algn="l" rtl="0">
              <a:lnSpc>
                <a:spcPct val="90000"/>
              </a:lnSpc>
              <a:spcBef>
                <a:spcPts val="2000"/>
              </a:spcBef>
              <a:spcAft>
                <a:spcPts val="0"/>
              </a:spcAft>
              <a:buClr>
                <a:schemeClr val="dk1"/>
              </a:buClr>
              <a:buSzPts val="11947"/>
              <a:buFont typeface="Arial"/>
              <a:buNone/>
              <a:defRPr sz="11200" b="0" i="0" u="none" strike="noStrike" cap="none">
                <a:solidFill>
                  <a:schemeClr val="dk1"/>
                </a:solidFill>
                <a:latin typeface="Calibri"/>
                <a:ea typeface="Calibri"/>
                <a:cs typeface="Calibri"/>
                <a:sym typeface="Calibri"/>
              </a:defRPr>
            </a:lvl2pPr>
            <a:lvl3pPr marR="0" lvl="2" algn="l" rtl="0">
              <a:lnSpc>
                <a:spcPct val="90000"/>
              </a:lnSpc>
              <a:spcBef>
                <a:spcPts val="2000"/>
              </a:spcBef>
              <a:spcAft>
                <a:spcPts val="0"/>
              </a:spcAft>
              <a:buClr>
                <a:schemeClr val="dk1"/>
              </a:buClr>
              <a:buSzPts val="10240"/>
              <a:buFont typeface="Arial"/>
              <a:buNone/>
              <a:defRPr sz="9600" b="0" i="0" u="none" strike="noStrike" cap="none">
                <a:solidFill>
                  <a:schemeClr val="dk1"/>
                </a:solidFill>
                <a:latin typeface="Calibri"/>
                <a:ea typeface="Calibri"/>
                <a:cs typeface="Calibri"/>
                <a:sym typeface="Calibri"/>
              </a:defRPr>
            </a:lvl3pPr>
            <a:lvl4pPr marR="0" lvl="3" algn="l" rtl="0">
              <a:lnSpc>
                <a:spcPct val="90000"/>
              </a:lnSpc>
              <a:spcBef>
                <a:spcPts val="2000"/>
              </a:spcBef>
              <a:spcAft>
                <a:spcPts val="0"/>
              </a:spcAft>
              <a:buClr>
                <a:schemeClr val="dk1"/>
              </a:buClr>
              <a:buSzPts val="8533"/>
              <a:buFont typeface="Arial"/>
              <a:buNone/>
              <a:defRPr sz="8000" b="0" i="0" u="none" strike="noStrike" cap="none">
                <a:solidFill>
                  <a:schemeClr val="dk1"/>
                </a:solidFill>
                <a:latin typeface="Calibri"/>
                <a:ea typeface="Calibri"/>
                <a:cs typeface="Calibri"/>
                <a:sym typeface="Calibri"/>
              </a:defRPr>
            </a:lvl4pPr>
            <a:lvl5pPr marR="0" lvl="4" algn="l" rtl="0">
              <a:lnSpc>
                <a:spcPct val="90000"/>
              </a:lnSpc>
              <a:spcBef>
                <a:spcPts val="2000"/>
              </a:spcBef>
              <a:spcAft>
                <a:spcPts val="0"/>
              </a:spcAft>
              <a:buClr>
                <a:schemeClr val="dk1"/>
              </a:buClr>
              <a:buSzPts val="8533"/>
              <a:buFont typeface="Arial"/>
              <a:buNone/>
              <a:defRPr sz="8000" b="0" i="0" u="none" strike="noStrike" cap="none">
                <a:solidFill>
                  <a:schemeClr val="dk1"/>
                </a:solidFill>
                <a:latin typeface="Calibri"/>
                <a:ea typeface="Calibri"/>
                <a:cs typeface="Calibri"/>
                <a:sym typeface="Calibri"/>
              </a:defRPr>
            </a:lvl5pPr>
            <a:lvl6pPr marR="0" lvl="5" algn="l" rtl="0">
              <a:lnSpc>
                <a:spcPct val="90000"/>
              </a:lnSpc>
              <a:spcBef>
                <a:spcPts val="2000"/>
              </a:spcBef>
              <a:spcAft>
                <a:spcPts val="0"/>
              </a:spcAft>
              <a:buClr>
                <a:schemeClr val="dk1"/>
              </a:buClr>
              <a:buSzPts val="8533"/>
              <a:buFont typeface="Arial"/>
              <a:buNone/>
              <a:defRPr sz="8000" b="0" i="0" u="none" strike="noStrike" cap="none">
                <a:solidFill>
                  <a:schemeClr val="dk1"/>
                </a:solidFill>
                <a:latin typeface="Calibri"/>
                <a:ea typeface="Calibri"/>
                <a:cs typeface="Calibri"/>
                <a:sym typeface="Calibri"/>
              </a:defRPr>
            </a:lvl6pPr>
            <a:lvl7pPr marR="0" lvl="6" algn="l" rtl="0">
              <a:lnSpc>
                <a:spcPct val="90000"/>
              </a:lnSpc>
              <a:spcBef>
                <a:spcPts val="2000"/>
              </a:spcBef>
              <a:spcAft>
                <a:spcPts val="0"/>
              </a:spcAft>
              <a:buClr>
                <a:schemeClr val="dk1"/>
              </a:buClr>
              <a:buSzPts val="8533"/>
              <a:buFont typeface="Arial"/>
              <a:buNone/>
              <a:defRPr sz="8000" b="0" i="0" u="none" strike="noStrike" cap="none">
                <a:solidFill>
                  <a:schemeClr val="dk1"/>
                </a:solidFill>
                <a:latin typeface="Calibri"/>
                <a:ea typeface="Calibri"/>
                <a:cs typeface="Calibri"/>
                <a:sym typeface="Calibri"/>
              </a:defRPr>
            </a:lvl7pPr>
            <a:lvl8pPr marR="0" lvl="7" algn="l" rtl="0">
              <a:lnSpc>
                <a:spcPct val="90000"/>
              </a:lnSpc>
              <a:spcBef>
                <a:spcPts val="2000"/>
              </a:spcBef>
              <a:spcAft>
                <a:spcPts val="0"/>
              </a:spcAft>
              <a:buClr>
                <a:schemeClr val="dk1"/>
              </a:buClr>
              <a:buSzPts val="8533"/>
              <a:buFont typeface="Arial"/>
              <a:buNone/>
              <a:defRPr sz="8000" b="0" i="0" u="none" strike="noStrike" cap="none">
                <a:solidFill>
                  <a:schemeClr val="dk1"/>
                </a:solidFill>
                <a:latin typeface="Calibri"/>
                <a:ea typeface="Calibri"/>
                <a:cs typeface="Calibri"/>
                <a:sym typeface="Calibri"/>
              </a:defRPr>
            </a:lvl8pPr>
            <a:lvl9pPr marR="0" lvl="8" algn="l" rtl="0">
              <a:lnSpc>
                <a:spcPct val="90000"/>
              </a:lnSpc>
              <a:spcBef>
                <a:spcPts val="2000"/>
              </a:spcBef>
              <a:spcAft>
                <a:spcPts val="0"/>
              </a:spcAft>
              <a:buClr>
                <a:schemeClr val="dk1"/>
              </a:buClr>
              <a:buSzPts val="8533"/>
              <a:buFont typeface="Arial"/>
              <a:buNone/>
              <a:defRPr sz="8000" b="0" i="0" u="none" strike="noStrike" cap="none">
                <a:solidFill>
                  <a:schemeClr val="dk1"/>
                </a:solidFill>
                <a:latin typeface="Calibri"/>
                <a:ea typeface="Calibri"/>
                <a:cs typeface="Calibri"/>
                <a:sym typeface="Calibri"/>
              </a:defRPr>
            </a:lvl9pPr>
          </a:lstStyle>
          <a:p>
            <a:endParaRPr/>
          </a:p>
        </p:txBody>
      </p:sp>
      <p:sp>
        <p:nvSpPr>
          <p:cNvPr id="64" name="Google Shape;64;p11"/>
          <p:cNvSpPr txBox="1">
            <a:spLocks noGrp="1"/>
          </p:cNvSpPr>
          <p:nvPr>
            <p:ph type="body" idx="1"/>
          </p:nvPr>
        </p:nvSpPr>
        <p:spPr>
          <a:xfrm>
            <a:off x="3023238" y="9875523"/>
            <a:ext cx="14156054" cy="18295622"/>
          </a:xfrm>
          <a:prstGeom prst="rect">
            <a:avLst/>
          </a:prstGeom>
          <a:noFill/>
          <a:ln>
            <a:noFill/>
          </a:ln>
        </p:spPr>
        <p:txBody>
          <a:bodyPr spcFirstLastPara="1" wrap="square" lIns="91425" tIns="45700" rIns="91425" bIns="45700" anchor="t" anchorCtr="0">
            <a:normAutofit/>
          </a:bodyPr>
          <a:lstStyle>
            <a:lvl1pPr marL="428608" lvl="0" indent="-214304" algn="l">
              <a:lnSpc>
                <a:spcPct val="90000"/>
              </a:lnSpc>
              <a:spcBef>
                <a:spcPts val="4000"/>
              </a:spcBef>
              <a:spcAft>
                <a:spcPts val="0"/>
              </a:spcAft>
              <a:buClr>
                <a:schemeClr val="dk1"/>
              </a:buClr>
              <a:buSzPts val="6827"/>
              <a:buNone/>
              <a:defRPr sz="6399"/>
            </a:lvl1pPr>
            <a:lvl2pPr marL="857216" lvl="1" indent="-214304" algn="l">
              <a:lnSpc>
                <a:spcPct val="90000"/>
              </a:lnSpc>
              <a:spcBef>
                <a:spcPts val="2000"/>
              </a:spcBef>
              <a:spcAft>
                <a:spcPts val="0"/>
              </a:spcAft>
              <a:buClr>
                <a:schemeClr val="dk1"/>
              </a:buClr>
              <a:buSzPts val="5973"/>
              <a:buNone/>
              <a:defRPr sz="5600"/>
            </a:lvl2pPr>
            <a:lvl3pPr marL="1285824" lvl="2" indent="-214304" algn="l">
              <a:lnSpc>
                <a:spcPct val="90000"/>
              </a:lnSpc>
              <a:spcBef>
                <a:spcPts val="2000"/>
              </a:spcBef>
              <a:spcAft>
                <a:spcPts val="0"/>
              </a:spcAft>
              <a:buClr>
                <a:schemeClr val="dk1"/>
              </a:buClr>
              <a:buSzPts val="5120"/>
              <a:buNone/>
              <a:defRPr sz="4800"/>
            </a:lvl3pPr>
            <a:lvl4pPr marL="1714431" lvl="3" indent="-214304" algn="l">
              <a:lnSpc>
                <a:spcPct val="90000"/>
              </a:lnSpc>
              <a:spcBef>
                <a:spcPts val="2000"/>
              </a:spcBef>
              <a:spcAft>
                <a:spcPts val="0"/>
              </a:spcAft>
              <a:buClr>
                <a:schemeClr val="dk1"/>
              </a:buClr>
              <a:buSzPts val="4267"/>
              <a:buNone/>
              <a:defRPr sz="4000"/>
            </a:lvl4pPr>
            <a:lvl5pPr marL="2143039" lvl="4" indent="-214304" algn="l">
              <a:lnSpc>
                <a:spcPct val="90000"/>
              </a:lnSpc>
              <a:spcBef>
                <a:spcPts val="2000"/>
              </a:spcBef>
              <a:spcAft>
                <a:spcPts val="0"/>
              </a:spcAft>
              <a:buClr>
                <a:schemeClr val="dk1"/>
              </a:buClr>
              <a:buSzPts val="4267"/>
              <a:buNone/>
              <a:defRPr sz="4000"/>
            </a:lvl5pPr>
            <a:lvl6pPr marL="2571647" lvl="5" indent="-214304" algn="l">
              <a:lnSpc>
                <a:spcPct val="90000"/>
              </a:lnSpc>
              <a:spcBef>
                <a:spcPts val="2000"/>
              </a:spcBef>
              <a:spcAft>
                <a:spcPts val="0"/>
              </a:spcAft>
              <a:buClr>
                <a:schemeClr val="dk1"/>
              </a:buClr>
              <a:buSzPts val="4267"/>
              <a:buNone/>
              <a:defRPr sz="4000"/>
            </a:lvl6pPr>
            <a:lvl7pPr marL="3000255" lvl="6" indent="-214304" algn="l">
              <a:lnSpc>
                <a:spcPct val="90000"/>
              </a:lnSpc>
              <a:spcBef>
                <a:spcPts val="2000"/>
              </a:spcBef>
              <a:spcAft>
                <a:spcPts val="0"/>
              </a:spcAft>
              <a:buClr>
                <a:schemeClr val="dk1"/>
              </a:buClr>
              <a:buSzPts val="4267"/>
              <a:buNone/>
              <a:defRPr sz="4000"/>
            </a:lvl7pPr>
            <a:lvl8pPr marL="3428863" lvl="7" indent="-214304" algn="l">
              <a:lnSpc>
                <a:spcPct val="90000"/>
              </a:lnSpc>
              <a:spcBef>
                <a:spcPts val="2000"/>
              </a:spcBef>
              <a:spcAft>
                <a:spcPts val="0"/>
              </a:spcAft>
              <a:buClr>
                <a:schemeClr val="dk1"/>
              </a:buClr>
              <a:buSzPts val="4267"/>
              <a:buNone/>
              <a:defRPr sz="4000"/>
            </a:lvl8pPr>
            <a:lvl9pPr marL="3857471" lvl="8" indent="-214304" algn="l">
              <a:lnSpc>
                <a:spcPct val="90000"/>
              </a:lnSpc>
              <a:spcBef>
                <a:spcPts val="2000"/>
              </a:spcBef>
              <a:spcAft>
                <a:spcPts val="0"/>
              </a:spcAft>
              <a:buClr>
                <a:schemeClr val="dk1"/>
              </a:buClr>
              <a:buSzPts val="4267"/>
              <a:buNone/>
              <a:defRPr sz="4000"/>
            </a:lvl9pPr>
          </a:lstStyle>
          <a:p>
            <a:endParaRPr/>
          </a:p>
        </p:txBody>
      </p:sp>
      <p:sp>
        <p:nvSpPr>
          <p:cNvPr id="65" name="Google Shape;65;p11"/>
          <p:cNvSpPr txBox="1">
            <a:spLocks noGrp="1"/>
          </p:cNvSpPr>
          <p:nvPr>
            <p:ph type="dt" idx="10"/>
          </p:nvPr>
        </p:nvSpPr>
        <p:spPr>
          <a:xfrm>
            <a:off x="3017520" y="30510490"/>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4538960" y="30510490"/>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30998161" y="30510490"/>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3017523" y="1752610"/>
            <a:ext cx="37856159"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11502392" y="278134"/>
            <a:ext cx="20886423" cy="37856159"/>
          </a:xfrm>
          <a:prstGeom prst="rect">
            <a:avLst/>
          </a:prstGeom>
          <a:noFill/>
          <a:ln>
            <a:noFill/>
          </a:ln>
        </p:spPr>
        <p:txBody>
          <a:bodyPr spcFirstLastPara="1" wrap="square" lIns="91425" tIns="45700" rIns="91425" bIns="45700" anchor="t" anchorCtr="0">
            <a:normAutofit/>
          </a:bodyPr>
          <a:lstStyle>
            <a:lvl1pPr marL="428608" lvl="0" indent="-321456" algn="l">
              <a:lnSpc>
                <a:spcPct val="90000"/>
              </a:lnSpc>
              <a:spcBef>
                <a:spcPts val="4000"/>
              </a:spcBef>
              <a:spcAft>
                <a:spcPts val="0"/>
              </a:spcAft>
              <a:buClr>
                <a:schemeClr val="dk1"/>
              </a:buClr>
              <a:buSzPts val="1800"/>
              <a:buChar char="•"/>
              <a:defRPr/>
            </a:lvl1pPr>
            <a:lvl2pPr marL="857216" lvl="1" indent="-321456" algn="l">
              <a:lnSpc>
                <a:spcPct val="90000"/>
              </a:lnSpc>
              <a:spcBef>
                <a:spcPts val="2000"/>
              </a:spcBef>
              <a:spcAft>
                <a:spcPts val="0"/>
              </a:spcAft>
              <a:buClr>
                <a:schemeClr val="dk1"/>
              </a:buClr>
              <a:buSzPts val="1800"/>
              <a:buChar char="•"/>
              <a:defRPr/>
            </a:lvl2pPr>
            <a:lvl3pPr marL="1285824" lvl="2" indent="-321456" algn="l">
              <a:lnSpc>
                <a:spcPct val="90000"/>
              </a:lnSpc>
              <a:spcBef>
                <a:spcPts val="2000"/>
              </a:spcBef>
              <a:spcAft>
                <a:spcPts val="0"/>
              </a:spcAft>
              <a:buClr>
                <a:schemeClr val="dk1"/>
              </a:buClr>
              <a:buSzPts val="1800"/>
              <a:buChar char="•"/>
              <a:defRPr/>
            </a:lvl3pPr>
            <a:lvl4pPr marL="1714431" lvl="3" indent="-321456" algn="l">
              <a:lnSpc>
                <a:spcPct val="90000"/>
              </a:lnSpc>
              <a:spcBef>
                <a:spcPts val="2000"/>
              </a:spcBef>
              <a:spcAft>
                <a:spcPts val="0"/>
              </a:spcAft>
              <a:buClr>
                <a:schemeClr val="dk1"/>
              </a:buClr>
              <a:buSzPts val="1800"/>
              <a:buChar char="•"/>
              <a:defRPr/>
            </a:lvl4pPr>
            <a:lvl5pPr marL="2143039" lvl="4" indent="-321456" algn="l">
              <a:lnSpc>
                <a:spcPct val="90000"/>
              </a:lnSpc>
              <a:spcBef>
                <a:spcPts val="2000"/>
              </a:spcBef>
              <a:spcAft>
                <a:spcPts val="0"/>
              </a:spcAft>
              <a:buClr>
                <a:schemeClr val="dk1"/>
              </a:buClr>
              <a:buSzPts val="1800"/>
              <a:buChar char="•"/>
              <a:defRPr/>
            </a:lvl5pPr>
            <a:lvl6pPr marL="2571647" lvl="5" indent="-321456" algn="l">
              <a:lnSpc>
                <a:spcPct val="90000"/>
              </a:lnSpc>
              <a:spcBef>
                <a:spcPts val="2000"/>
              </a:spcBef>
              <a:spcAft>
                <a:spcPts val="0"/>
              </a:spcAft>
              <a:buClr>
                <a:schemeClr val="dk1"/>
              </a:buClr>
              <a:buSzPts val="1800"/>
              <a:buChar char="•"/>
              <a:defRPr/>
            </a:lvl6pPr>
            <a:lvl7pPr marL="3000255" lvl="6" indent="-321456" algn="l">
              <a:lnSpc>
                <a:spcPct val="90000"/>
              </a:lnSpc>
              <a:spcBef>
                <a:spcPts val="2000"/>
              </a:spcBef>
              <a:spcAft>
                <a:spcPts val="0"/>
              </a:spcAft>
              <a:buClr>
                <a:schemeClr val="dk1"/>
              </a:buClr>
              <a:buSzPts val="1800"/>
              <a:buChar char="•"/>
              <a:defRPr/>
            </a:lvl7pPr>
            <a:lvl8pPr marL="3428863" lvl="7" indent="-321456" algn="l">
              <a:lnSpc>
                <a:spcPct val="90000"/>
              </a:lnSpc>
              <a:spcBef>
                <a:spcPts val="2000"/>
              </a:spcBef>
              <a:spcAft>
                <a:spcPts val="0"/>
              </a:spcAft>
              <a:buClr>
                <a:schemeClr val="dk1"/>
              </a:buClr>
              <a:buSzPts val="1800"/>
              <a:buChar char="•"/>
              <a:defRPr/>
            </a:lvl8pPr>
            <a:lvl9pPr marL="3857471" lvl="8" indent="-321456" algn="l">
              <a:lnSpc>
                <a:spcPct val="90000"/>
              </a:lnSpc>
              <a:spcBef>
                <a:spcPts val="20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3017520" y="30510490"/>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4538960" y="30510490"/>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30998161" y="30510490"/>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22193250" y="10968992"/>
            <a:ext cx="27896822" cy="94640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2990855" y="1779275"/>
            <a:ext cx="27896822" cy="27843479"/>
          </a:xfrm>
          <a:prstGeom prst="rect">
            <a:avLst/>
          </a:prstGeom>
          <a:noFill/>
          <a:ln>
            <a:noFill/>
          </a:ln>
        </p:spPr>
        <p:txBody>
          <a:bodyPr spcFirstLastPara="1" wrap="square" lIns="91425" tIns="45700" rIns="91425" bIns="45700" anchor="t" anchorCtr="0">
            <a:normAutofit/>
          </a:bodyPr>
          <a:lstStyle>
            <a:lvl1pPr marL="428608" lvl="0" indent="-321456" algn="l">
              <a:lnSpc>
                <a:spcPct val="90000"/>
              </a:lnSpc>
              <a:spcBef>
                <a:spcPts val="4000"/>
              </a:spcBef>
              <a:spcAft>
                <a:spcPts val="0"/>
              </a:spcAft>
              <a:buClr>
                <a:schemeClr val="dk1"/>
              </a:buClr>
              <a:buSzPts val="1800"/>
              <a:buChar char="•"/>
              <a:defRPr/>
            </a:lvl1pPr>
            <a:lvl2pPr marL="857216" lvl="1" indent="-321456" algn="l">
              <a:lnSpc>
                <a:spcPct val="90000"/>
              </a:lnSpc>
              <a:spcBef>
                <a:spcPts val="2000"/>
              </a:spcBef>
              <a:spcAft>
                <a:spcPts val="0"/>
              </a:spcAft>
              <a:buClr>
                <a:schemeClr val="dk1"/>
              </a:buClr>
              <a:buSzPts val="1800"/>
              <a:buChar char="•"/>
              <a:defRPr/>
            </a:lvl2pPr>
            <a:lvl3pPr marL="1285824" lvl="2" indent="-321456" algn="l">
              <a:lnSpc>
                <a:spcPct val="90000"/>
              </a:lnSpc>
              <a:spcBef>
                <a:spcPts val="2000"/>
              </a:spcBef>
              <a:spcAft>
                <a:spcPts val="0"/>
              </a:spcAft>
              <a:buClr>
                <a:schemeClr val="dk1"/>
              </a:buClr>
              <a:buSzPts val="1800"/>
              <a:buChar char="•"/>
              <a:defRPr/>
            </a:lvl3pPr>
            <a:lvl4pPr marL="1714431" lvl="3" indent="-321456" algn="l">
              <a:lnSpc>
                <a:spcPct val="90000"/>
              </a:lnSpc>
              <a:spcBef>
                <a:spcPts val="2000"/>
              </a:spcBef>
              <a:spcAft>
                <a:spcPts val="0"/>
              </a:spcAft>
              <a:buClr>
                <a:schemeClr val="dk1"/>
              </a:buClr>
              <a:buSzPts val="1800"/>
              <a:buChar char="•"/>
              <a:defRPr/>
            </a:lvl4pPr>
            <a:lvl5pPr marL="2143039" lvl="4" indent="-321456" algn="l">
              <a:lnSpc>
                <a:spcPct val="90000"/>
              </a:lnSpc>
              <a:spcBef>
                <a:spcPts val="2000"/>
              </a:spcBef>
              <a:spcAft>
                <a:spcPts val="0"/>
              </a:spcAft>
              <a:buClr>
                <a:schemeClr val="dk1"/>
              </a:buClr>
              <a:buSzPts val="1800"/>
              <a:buChar char="•"/>
              <a:defRPr/>
            </a:lvl5pPr>
            <a:lvl6pPr marL="2571647" lvl="5" indent="-321456" algn="l">
              <a:lnSpc>
                <a:spcPct val="90000"/>
              </a:lnSpc>
              <a:spcBef>
                <a:spcPts val="2000"/>
              </a:spcBef>
              <a:spcAft>
                <a:spcPts val="0"/>
              </a:spcAft>
              <a:buClr>
                <a:schemeClr val="dk1"/>
              </a:buClr>
              <a:buSzPts val="1800"/>
              <a:buChar char="•"/>
              <a:defRPr/>
            </a:lvl6pPr>
            <a:lvl7pPr marL="3000255" lvl="6" indent="-321456" algn="l">
              <a:lnSpc>
                <a:spcPct val="90000"/>
              </a:lnSpc>
              <a:spcBef>
                <a:spcPts val="2000"/>
              </a:spcBef>
              <a:spcAft>
                <a:spcPts val="0"/>
              </a:spcAft>
              <a:buClr>
                <a:schemeClr val="dk1"/>
              </a:buClr>
              <a:buSzPts val="1800"/>
              <a:buChar char="•"/>
              <a:defRPr/>
            </a:lvl7pPr>
            <a:lvl8pPr marL="3428863" lvl="7" indent="-321456" algn="l">
              <a:lnSpc>
                <a:spcPct val="90000"/>
              </a:lnSpc>
              <a:spcBef>
                <a:spcPts val="2000"/>
              </a:spcBef>
              <a:spcAft>
                <a:spcPts val="0"/>
              </a:spcAft>
              <a:buClr>
                <a:schemeClr val="dk1"/>
              </a:buClr>
              <a:buSzPts val="1800"/>
              <a:buChar char="•"/>
              <a:defRPr/>
            </a:lvl8pPr>
            <a:lvl9pPr marL="3857471" lvl="8" indent="-321456" algn="l">
              <a:lnSpc>
                <a:spcPct val="90000"/>
              </a:lnSpc>
              <a:spcBef>
                <a:spcPts val="20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3017520" y="30510490"/>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4538960" y="30510490"/>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30998161" y="30510490"/>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017523" y="1752610"/>
            <a:ext cx="37856159" cy="6362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8773"/>
              <a:buFont typeface="Calibri"/>
              <a:buNone/>
              <a:defRPr sz="18773"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3017523" y="8763002"/>
            <a:ext cx="37856159" cy="20886423"/>
          </a:xfrm>
          <a:prstGeom prst="rect">
            <a:avLst/>
          </a:prstGeom>
          <a:noFill/>
          <a:ln>
            <a:noFill/>
          </a:ln>
        </p:spPr>
        <p:txBody>
          <a:bodyPr spcFirstLastPara="1" wrap="square" lIns="91425" tIns="45700" rIns="91425" bIns="45700" anchor="t" anchorCtr="0">
            <a:normAutofit/>
          </a:bodyPr>
          <a:lstStyle>
            <a:lvl1pPr marL="457200" marR="0" lvl="0" indent="-987234" algn="l" rtl="0">
              <a:lnSpc>
                <a:spcPct val="90000"/>
              </a:lnSpc>
              <a:spcBef>
                <a:spcPts val="4267"/>
              </a:spcBef>
              <a:spcAft>
                <a:spcPts val="0"/>
              </a:spcAft>
              <a:buClr>
                <a:schemeClr val="dk1"/>
              </a:buClr>
              <a:buSzPts val="11947"/>
              <a:buFont typeface="Arial"/>
              <a:buChar char="•"/>
              <a:defRPr sz="11947" b="0" i="0" u="none" strike="noStrike" cap="none">
                <a:solidFill>
                  <a:schemeClr val="dk1"/>
                </a:solidFill>
                <a:latin typeface="Calibri"/>
                <a:ea typeface="Calibri"/>
                <a:cs typeface="Calibri"/>
                <a:sym typeface="Calibri"/>
              </a:defRPr>
            </a:lvl1pPr>
            <a:lvl2pPr marL="914400" marR="0" lvl="1" indent="-878839" algn="l" rtl="0">
              <a:lnSpc>
                <a:spcPct val="90000"/>
              </a:lnSpc>
              <a:spcBef>
                <a:spcPts val="2133"/>
              </a:spcBef>
              <a:spcAft>
                <a:spcPts val="0"/>
              </a:spcAft>
              <a:buClr>
                <a:schemeClr val="dk1"/>
              </a:buClr>
              <a:buSzPts val="10240"/>
              <a:buFont typeface="Arial"/>
              <a:buChar char="•"/>
              <a:defRPr sz="10240" b="0" i="0" u="none" strike="noStrike" cap="none">
                <a:solidFill>
                  <a:schemeClr val="dk1"/>
                </a:solidFill>
                <a:latin typeface="Calibri"/>
                <a:ea typeface="Calibri"/>
                <a:cs typeface="Calibri"/>
                <a:sym typeface="Calibri"/>
              </a:defRPr>
            </a:lvl2pPr>
            <a:lvl3pPr marL="1371600" marR="0" lvl="2" indent="-770445" algn="l" rtl="0">
              <a:lnSpc>
                <a:spcPct val="90000"/>
              </a:lnSpc>
              <a:spcBef>
                <a:spcPts val="2133"/>
              </a:spcBef>
              <a:spcAft>
                <a:spcPts val="0"/>
              </a:spcAft>
              <a:buClr>
                <a:schemeClr val="dk1"/>
              </a:buClr>
              <a:buSzPts val="8533"/>
              <a:buFont typeface="Arial"/>
              <a:buChar char="•"/>
              <a:defRPr sz="8533" b="0" i="0" u="none" strike="noStrike" cap="none">
                <a:solidFill>
                  <a:schemeClr val="dk1"/>
                </a:solidFill>
                <a:latin typeface="Calibri"/>
                <a:ea typeface="Calibri"/>
                <a:cs typeface="Calibri"/>
                <a:sym typeface="Calibri"/>
              </a:defRPr>
            </a:lvl3pPr>
            <a:lvl4pPr marL="1828800" marR="0" lvl="3" indent="-716280" algn="l" rtl="0">
              <a:lnSpc>
                <a:spcPct val="90000"/>
              </a:lnSpc>
              <a:spcBef>
                <a:spcPts val="2133"/>
              </a:spcBef>
              <a:spcAft>
                <a:spcPts val="0"/>
              </a:spcAft>
              <a:buClr>
                <a:schemeClr val="dk1"/>
              </a:buClr>
              <a:buSzPts val="7680"/>
              <a:buFont typeface="Arial"/>
              <a:buChar char="•"/>
              <a:defRPr sz="7680" b="0" i="0" u="none" strike="noStrike" cap="none">
                <a:solidFill>
                  <a:schemeClr val="dk1"/>
                </a:solidFill>
                <a:latin typeface="Calibri"/>
                <a:ea typeface="Calibri"/>
                <a:cs typeface="Calibri"/>
                <a:sym typeface="Calibri"/>
              </a:defRPr>
            </a:lvl4pPr>
            <a:lvl5pPr marL="2286000" marR="0" lvl="4" indent="-716280" algn="l" rtl="0">
              <a:lnSpc>
                <a:spcPct val="90000"/>
              </a:lnSpc>
              <a:spcBef>
                <a:spcPts val="2133"/>
              </a:spcBef>
              <a:spcAft>
                <a:spcPts val="0"/>
              </a:spcAft>
              <a:buClr>
                <a:schemeClr val="dk1"/>
              </a:buClr>
              <a:buSzPts val="7680"/>
              <a:buFont typeface="Arial"/>
              <a:buChar char="•"/>
              <a:defRPr sz="7680" b="0" i="0" u="none" strike="noStrike" cap="none">
                <a:solidFill>
                  <a:schemeClr val="dk1"/>
                </a:solidFill>
                <a:latin typeface="Calibri"/>
                <a:ea typeface="Calibri"/>
                <a:cs typeface="Calibri"/>
                <a:sym typeface="Calibri"/>
              </a:defRPr>
            </a:lvl5pPr>
            <a:lvl6pPr marL="2743200" marR="0" lvl="5" indent="-716279" algn="l" rtl="0">
              <a:lnSpc>
                <a:spcPct val="90000"/>
              </a:lnSpc>
              <a:spcBef>
                <a:spcPts val="2133"/>
              </a:spcBef>
              <a:spcAft>
                <a:spcPts val="0"/>
              </a:spcAft>
              <a:buClr>
                <a:schemeClr val="dk1"/>
              </a:buClr>
              <a:buSzPts val="7680"/>
              <a:buFont typeface="Arial"/>
              <a:buChar char="•"/>
              <a:defRPr sz="7680" b="0" i="0" u="none" strike="noStrike" cap="none">
                <a:solidFill>
                  <a:schemeClr val="dk1"/>
                </a:solidFill>
                <a:latin typeface="Calibri"/>
                <a:ea typeface="Calibri"/>
                <a:cs typeface="Calibri"/>
                <a:sym typeface="Calibri"/>
              </a:defRPr>
            </a:lvl6pPr>
            <a:lvl7pPr marL="3200400" marR="0" lvl="6" indent="-716279" algn="l" rtl="0">
              <a:lnSpc>
                <a:spcPct val="90000"/>
              </a:lnSpc>
              <a:spcBef>
                <a:spcPts val="2133"/>
              </a:spcBef>
              <a:spcAft>
                <a:spcPts val="0"/>
              </a:spcAft>
              <a:buClr>
                <a:schemeClr val="dk1"/>
              </a:buClr>
              <a:buSzPts val="7680"/>
              <a:buFont typeface="Arial"/>
              <a:buChar char="•"/>
              <a:defRPr sz="7680" b="0" i="0" u="none" strike="noStrike" cap="none">
                <a:solidFill>
                  <a:schemeClr val="dk1"/>
                </a:solidFill>
                <a:latin typeface="Calibri"/>
                <a:ea typeface="Calibri"/>
                <a:cs typeface="Calibri"/>
                <a:sym typeface="Calibri"/>
              </a:defRPr>
            </a:lvl7pPr>
            <a:lvl8pPr marL="3657600" marR="0" lvl="7" indent="-716279" algn="l" rtl="0">
              <a:lnSpc>
                <a:spcPct val="90000"/>
              </a:lnSpc>
              <a:spcBef>
                <a:spcPts val="2133"/>
              </a:spcBef>
              <a:spcAft>
                <a:spcPts val="0"/>
              </a:spcAft>
              <a:buClr>
                <a:schemeClr val="dk1"/>
              </a:buClr>
              <a:buSzPts val="7680"/>
              <a:buFont typeface="Arial"/>
              <a:buChar char="•"/>
              <a:defRPr sz="7680" b="0" i="0" u="none" strike="noStrike" cap="none">
                <a:solidFill>
                  <a:schemeClr val="dk1"/>
                </a:solidFill>
                <a:latin typeface="Calibri"/>
                <a:ea typeface="Calibri"/>
                <a:cs typeface="Calibri"/>
                <a:sym typeface="Calibri"/>
              </a:defRPr>
            </a:lvl8pPr>
            <a:lvl9pPr marL="4114800" marR="0" lvl="8" indent="-716279" algn="l" rtl="0">
              <a:lnSpc>
                <a:spcPct val="90000"/>
              </a:lnSpc>
              <a:spcBef>
                <a:spcPts val="2133"/>
              </a:spcBef>
              <a:spcAft>
                <a:spcPts val="0"/>
              </a:spcAft>
              <a:buClr>
                <a:schemeClr val="dk1"/>
              </a:buClr>
              <a:buSzPts val="7680"/>
              <a:buFont typeface="Arial"/>
              <a:buChar char="•"/>
              <a:defRPr sz="768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3017520" y="30510490"/>
            <a:ext cx="9875520" cy="1752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4538960" y="30510490"/>
            <a:ext cx="14813280" cy="1752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156"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30998161" y="30510490"/>
            <a:ext cx="9875520" cy="17526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4800" b="0" i="0" u="none" strike="noStrike" cap="none">
                <a:solidFill>
                  <a:srgbClr val="888888"/>
                </a:solidFill>
                <a:latin typeface="Calibri"/>
                <a:ea typeface="Calibri"/>
                <a:cs typeface="Calibri"/>
                <a:sym typeface="Calibri"/>
              </a:defRPr>
            </a:lvl1pPr>
            <a:lvl2pPr marL="0" marR="0" lvl="1" indent="0" algn="r" rtl="0">
              <a:spcBef>
                <a:spcPts val="0"/>
              </a:spcBef>
              <a:buNone/>
              <a:defRPr sz="4800" b="0" i="0" u="none" strike="noStrike" cap="none">
                <a:solidFill>
                  <a:srgbClr val="888888"/>
                </a:solidFill>
                <a:latin typeface="Calibri"/>
                <a:ea typeface="Calibri"/>
                <a:cs typeface="Calibri"/>
                <a:sym typeface="Calibri"/>
              </a:defRPr>
            </a:lvl2pPr>
            <a:lvl3pPr marL="0" marR="0" lvl="2" indent="0" algn="r" rtl="0">
              <a:spcBef>
                <a:spcPts val="0"/>
              </a:spcBef>
              <a:buNone/>
              <a:defRPr sz="4800" b="0" i="0" u="none" strike="noStrike" cap="none">
                <a:solidFill>
                  <a:srgbClr val="888888"/>
                </a:solidFill>
                <a:latin typeface="Calibri"/>
                <a:ea typeface="Calibri"/>
                <a:cs typeface="Calibri"/>
                <a:sym typeface="Calibri"/>
              </a:defRPr>
            </a:lvl3pPr>
            <a:lvl4pPr marL="0" marR="0" lvl="3" indent="0" algn="r" rtl="0">
              <a:spcBef>
                <a:spcPts val="0"/>
              </a:spcBef>
              <a:buNone/>
              <a:defRPr sz="4800" b="0" i="0" u="none" strike="noStrike" cap="none">
                <a:solidFill>
                  <a:srgbClr val="888888"/>
                </a:solidFill>
                <a:latin typeface="Calibri"/>
                <a:ea typeface="Calibri"/>
                <a:cs typeface="Calibri"/>
                <a:sym typeface="Calibri"/>
              </a:defRPr>
            </a:lvl4pPr>
            <a:lvl5pPr marL="0" marR="0" lvl="4" indent="0" algn="r" rtl="0">
              <a:spcBef>
                <a:spcPts val="0"/>
              </a:spcBef>
              <a:buNone/>
              <a:defRPr sz="4800" b="0" i="0" u="none" strike="noStrike" cap="none">
                <a:solidFill>
                  <a:srgbClr val="888888"/>
                </a:solidFill>
                <a:latin typeface="Calibri"/>
                <a:ea typeface="Calibri"/>
                <a:cs typeface="Calibri"/>
                <a:sym typeface="Calibri"/>
              </a:defRPr>
            </a:lvl5pPr>
            <a:lvl6pPr marL="0" marR="0" lvl="5" indent="0" algn="r" rtl="0">
              <a:spcBef>
                <a:spcPts val="0"/>
              </a:spcBef>
              <a:buNone/>
              <a:defRPr sz="4800" b="0" i="0" u="none" strike="noStrike" cap="none">
                <a:solidFill>
                  <a:srgbClr val="888888"/>
                </a:solidFill>
                <a:latin typeface="Calibri"/>
                <a:ea typeface="Calibri"/>
                <a:cs typeface="Calibri"/>
                <a:sym typeface="Calibri"/>
              </a:defRPr>
            </a:lvl6pPr>
            <a:lvl7pPr marL="0" marR="0" lvl="6" indent="0" algn="r" rtl="0">
              <a:spcBef>
                <a:spcPts val="0"/>
              </a:spcBef>
              <a:buNone/>
              <a:defRPr sz="4800" b="0" i="0" u="none" strike="noStrike" cap="none">
                <a:solidFill>
                  <a:srgbClr val="888888"/>
                </a:solidFill>
                <a:latin typeface="Calibri"/>
                <a:ea typeface="Calibri"/>
                <a:cs typeface="Calibri"/>
                <a:sym typeface="Calibri"/>
              </a:defRPr>
            </a:lvl7pPr>
            <a:lvl8pPr marL="0" marR="0" lvl="7" indent="0" algn="r" rtl="0">
              <a:spcBef>
                <a:spcPts val="0"/>
              </a:spcBef>
              <a:buNone/>
              <a:defRPr sz="4800" b="0" i="0" u="none" strike="noStrike" cap="none">
                <a:solidFill>
                  <a:srgbClr val="888888"/>
                </a:solidFill>
                <a:latin typeface="Calibri"/>
                <a:ea typeface="Calibri"/>
                <a:cs typeface="Calibri"/>
                <a:sym typeface="Calibri"/>
              </a:defRPr>
            </a:lvl8pPr>
            <a:lvl9pPr marL="0" marR="0" lvl="8" indent="0" algn="r" rtl="0">
              <a:spcBef>
                <a:spcPts val="0"/>
              </a:spcBef>
              <a:buNone/>
              <a:defRPr sz="48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 id="2147483654" r:id="rId3"/>
    <p:sldLayoutId id="2147483656" r:id="rId4"/>
    <p:sldLayoutId id="2147483657" r:id="rId5"/>
    <p:sldLayoutId id="2147483658" r:id="rId6"/>
    <p:sldLayoutId id="214748365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12"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hyperlink" Target="https://doi.org/10.3758/BF03195290" TargetMode="External"/><Relationship Id="rId18" Type="http://schemas.openxmlformats.org/officeDocument/2006/relationships/image" Target="../media/image13.png"/><Relationship Id="rId26" Type="http://schemas.openxmlformats.org/officeDocument/2006/relationships/image" Target="../media/image21.png"/><Relationship Id="rId3" Type="http://schemas.openxmlformats.org/officeDocument/2006/relationships/image" Target="../media/image1.png"/><Relationship Id="rId21" Type="http://schemas.openxmlformats.org/officeDocument/2006/relationships/image" Target="../media/image16.png"/><Relationship Id="rId7" Type="http://schemas.openxmlformats.org/officeDocument/2006/relationships/image" Target="../media/image5.png"/><Relationship Id="rId12" Type="http://schemas.openxmlformats.org/officeDocument/2006/relationships/hyperlink" Target="https://doi.org/10.1016/j.brainres.2019.146483" TargetMode="External"/><Relationship Id="rId17" Type="http://schemas.openxmlformats.org/officeDocument/2006/relationships/image" Target="../media/image12.png"/><Relationship Id="rId25" Type="http://schemas.openxmlformats.org/officeDocument/2006/relationships/image" Target="../media/image20.png"/><Relationship Id="rId2" Type="http://schemas.openxmlformats.org/officeDocument/2006/relationships/notesSlide" Target="../notesSlides/notesSlide1.xml"/><Relationship Id="rId16" Type="http://schemas.openxmlformats.org/officeDocument/2006/relationships/image" Target="../media/image11.png"/><Relationship Id="rId20" Type="http://schemas.openxmlformats.org/officeDocument/2006/relationships/image" Target="../media/image15.png"/><Relationship Id="rId29"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19.png"/><Relationship Id="rId32" Type="http://schemas.openxmlformats.org/officeDocument/2006/relationships/image" Target="../media/image27.png"/><Relationship Id="rId5" Type="http://schemas.openxmlformats.org/officeDocument/2006/relationships/image" Target="../media/image3.png"/><Relationship Id="rId15" Type="http://schemas.openxmlformats.org/officeDocument/2006/relationships/image" Target="../media/image10.png"/><Relationship Id="rId23" Type="http://schemas.openxmlformats.org/officeDocument/2006/relationships/image" Target="../media/image18.jpeg"/><Relationship Id="rId28" Type="http://schemas.openxmlformats.org/officeDocument/2006/relationships/image" Target="../media/image23.png"/><Relationship Id="rId10" Type="http://schemas.openxmlformats.org/officeDocument/2006/relationships/image" Target="../media/image8.png"/><Relationship Id="rId19" Type="http://schemas.openxmlformats.org/officeDocument/2006/relationships/image" Target="../media/image14.png"/><Relationship Id="rId31" Type="http://schemas.openxmlformats.org/officeDocument/2006/relationships/image" Target="../media/image26.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hyperlink" Target="https://doi.org/10.3389/fpsyg.2022.1039172" TargetMode="External"/><Relationship Id="rId22" Type="http://schemas.openxmlformats.org/officeDocument/2006/relationships/image" Target="../media/image17.png"/><Relationship Id="rId27" Type="http://schemas.openxmlformats.org/officeDocument/2006/relationships/image" Target="../media/image22.png"/><Relationship Id="rId30"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94" name="Google Shape;94;p1"/>
          <p:cNvSpPr>
            <a:spLocks/>
          </p:cNvSpPr>
          <p:nvPr/>
        </p:nvSpPr>
        <p:spPr>
          <a:xfrm>
            <a:off x="-54115" y="5685306"/>
            <a:ext cx="43945315" cy="25846488"/>
          </a:xfrm>
          <a:prstGeom prst="rect">
            <a:avLst/>
          </a:prstGeom>
          <a:solidFill>
            <a:srgbClr val="33006F"/>
          </a:solidFill>
          <a:ln w="12700" cap="flat" cmpd="sng">
            <a:noFill/>
            <a:prstDash val="solid"/>
            <a:miter lim="800000"/>
            <a:headEnd type="none" w="sm" len="sm"/>
            <a:tailEnd type="none" w="sm" len="sm"/>
          </a:ln>
        </p:spPr>
        <p:txBody>
          <a:bodyPr spcFirstLastPara="1" wrap="square" lIns="85711" tIns="42844" rIns="85711" bIns="42844" anchor="ctr" anchorCtr="0">
            <a:noAutofit/>
          </a:bodyPr>
          <a:lstStyle/>
          <a:p>
            <a:pPr algn="ctr"/>
            <a:endParaRPr lang="en-US" sz="6156" dirty="0">
              <a:solidFill>
                <a:schemeClr val="lt1"/>
              </a:solidFill>
              <a:latin typeface="Calibri"/>
              <a:ea typeface="Calibri"/>
              <a:cs typeface="Calibri"/>
              <a:sym typeface="Calibri"/>
            </a:endParaRPr>
          </a:p>
        </p:txBody>
      </p:sp>
      <p:pic>
        <p:nvPicPr>
          <p:cNvPr id="12" name="Google Shape;102;p1">
            <a:extLst>
              <a:ext uri="{FF2B5EF4-FFF2-40B4-BE49-F238E27FC236}">
                <a16:creationId xmlns:a16="http://schemas.microsoft.com/office/drawing/2014/main" id="{B290795B-5538-41C2-BD62-6FB72C3F72F4}"/>
              </a:ext>
            </a:extLst>
          </p:cNvPr>
          <p:cNvPicPr preferRelativeResize="0"/>
          <p:nvPr/>
        </p:nvPicPr>
        <p:blipFill rotWithShape="1">
          <a:blip r:embed="rId3">
            <a:alphaModFix/>
          </a:blip>
          <a:srcRect/>
          <a:stretch/>
        </p:blipFill>
        <p:spPr>
          <a:xfrm>
            <a:off x="33539290" y="6459984"/>
            <a:ext cx="9417912" cy="19640481"/>
          </a:xfrm>
          <a:prstGeom prst="rect">
            <a:avLst/>
          </a:prstGeom>
          <a:noFill/>
          <a:ln>
            <a:noFill/>
          </a:ln>
        </p:spPr>
      </p:pic>
      <p:pic>
        <p:nvPicPr>
          <p:cNvPr id="106" name="Google Shape;106;p1"/>
          <p:cNvPicPr preferRelativeResize="0"/>
          <p:nvPr/>
        </p:nvPicPr>
        <p:blipFill rotWithShape="1">
          <a:blip r:embed="rId4">
            <a:alphaModFix/>
          </a:blip>
          <a:srcRect/>
          <a:stretch/>
        </p:blipFill>
        <p:spPr>
          <a:xfrm>
            <a:off x="-54116" y="31191096"/>
            <a:ext cx="44212015" cy="812423"/>
          </a:xfrm>
          <a:prstGeom prst="rect">
            <a:avLst/>
          </a:prstGeom>
          <a:noFill/>
          <a:ln>
            <a:noFill/>
          </a:ln>
        </p:spPr>
      </p:pic>
      <p:sp>
        <p:nvSpPr>
          <p:cNvPr id="108" name="Google Shape;108;p1"/>
          <p:cNvSpPr txBox="1"/>
          <p:nvPr/>
        </p:nvSpPr>
        <p:spPr>
          <a:xfrm>
            <a:off x="4239511" y="9552761"/>
            <a:ext cx="7969595" cy="432773"/>
          </a:xfrm>
          <a:prstGeom prst="rect">
            <a:avLst/>
          </a:prstGeom>
          <a:noFill/>
          <a:ln>
            <a:noFill/>
          </a:ln>
        </p:spPr>
        <p:txBody>
          <a:bodyPr spcFirstLastPara="1" wrap="square" lIns="85711" tIns="42844" rIns="85711" bIns="42844" anchor="t" anchorCtr="0">
            <a:spAutoFit/>
          </a:bodyPr>
          <a:lstStyle/>
          <a:p>
            <a:endParaRPr sz="2250">
              <a:solidFill>
                <a:schemeClr val="dk1"/>
              </a:solidFill>
              <a:latin typeface="Calibri"/>
              <a:ea typeface="Calibri"/>
              <a:cs typeface="Calibri"/>
              <a:sym typeface="Calibri"/>
            </a:endParaRPr>
          </a:p>
        </p:txBody>
      </p:sp>
      <p:sp>
        <p:nvSpPr>
          <p:cNvPr id="27" name="TextBox 26"/>
          <p:cNvSpPr txBox="1"/>
          <p:nvPr/>
        </p:nvSpPr>
        <p:spPr>
          <a:xfrm>
            <a:off x="23430974" y="8368368"/>
            <a:ext cx="6048375" cy="861774"/>
          </a:xfrm>
          <a:prstGeom prst="rect">
            <a:avLst/>
          </a:prstGeom>
          <a:noFill/>
        </p:spPr>
        <p:txBody>
          <a:bodyPr wrap="square" rtlCol="0">
            <a:spAutoFit/>
          </a:bodyPr>
          <a:lstStyle/>
          <a:p>
            <a:pPr algn="ctr"/>
            <a:r>
              <a:rPr lang="en-US" sz="5000" dirty="0">
                <a:latin typeface="Corbel" panose="020B0503020204020204" pitchFamily="34" charset="0"/>
              </a:rPr>
              <a:t>ROI Results</a:t>
            </a:r>
          </a:p>
        </p:txBody>
      </p:sp>
      <p:sp>
        <p:nvSpPr>
          <p:cNvPr id="169" name="Text Box 896">
            <a:extLst>
              <a:ext uri="{FF2B5EF4-FFF2-40B4-BE49-F238E27FC236}">
                <a16:creationId xmlns:a16="http://schemas.microsoft.com/office/drawing/2014/main" id="{BCEF858C-0CED-674F-8F57-354526DE8391}"/>
              </a:ext>
            </a:extLst>
          </p:cNvPr>
          <p:cNvSpPr txBox="1">
            <a:spLocks noChangeArrowheads="1"/>
          </p:cNvSpPr>
          <p:nvPr/>
        </p:nvSpPr>
        <p:spPr bwMode="auto">
          <a:xfrm>
            <a:off x="2557636" y="32166130"/>
            <a:ext cx="40756903" cy="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649788">
              <a:defRPr sz="2400">
                <a:solidFill>
                  <a:schemeClr val="tx1"/>
                </a:solidFill>
                <a:latin typeface="Gill Sans" charset="0"/>
                <a:ea typeface="MS PGothic" panose="020B0600070205080204" pitchFamily="34" charset="-128"/>
              </a:defRPr>
            </a:lvl1pPr>
            <a:lvl2pPr defTabSz="4649788">
              <a:defRPr sz="2400">
                <a:solidFill>
                  <a:schemeClr val="tx1"/>
                </a:solidFill>
                <a:latin typeface="Gill Sans" charset="0"/>
                <a:ea typeface="MS PGothic" panose="020B0600070205080204" pitchFamily="34" charset="-128"/>
              </a:defRPr>
            </a:lvl2pPr>
            <a:lvl3pPr marL="1143000" indent="-228600" defTabSz="4649788">
              <a:defRPr sz="2400">
                <a:solidFill>
                  <a:schemeClr val="tx1"/>
                </a:solidFill>
                <a:latin typeface="Gill Sans" charset="0"/>
                <a:ea typeface="MS PGothic" panose="020B0600070205080204" pitchFamily="34" charset="-128"/>
              </a:defRPr>
            </a:lvl3pPr>
            <a:lvl4pPr marL="1600200" indent="-228600" defTabSz="4649788">
              <a:defRPr sz="2400">
                <a:solidFill>
                  <a:schemeClr val="tx1"/>
                </a:solidFill>
                <a:latin typeface="Gill Sans" charset="0"/>
                <a:ea typeface="MS PGothic" panose="020B0600070205080204" pitchFamily="34" charset="-128"/>
              </a:defRPr>
            </a:lvl4pPr>
            <a:lvl5pPr marL="2057400" indent="-228600" defTabSz="4649788">
              <a:defRPr sz="2400">
                <a:solidFill>
                  <a:schemeClr val="tx1"/>
                </a:solidFill>
                <a:latin typeface="Gill Sans" charset="0"/>
                <a:ea typeface="MS PGothic" panose="020B0600070205080204" pitchFamily="34" charset="-128"/>
              </a:defRPr>
            </a:lvl5pPr>
            <a:lvl6pPr marL="2514600" indent="-228600" defTabSz="4649788" eaLnBrk="0" fontAlgn="base" hangingPunct="0">
              <a:spcBef>
                <a:spcPct val="0"/>
              </a:spcBef>
              <a:spcAft>
                <a:spcPct val="0"/>
              </a:spcAft>
              <a:defRPr sz="2400">
                <a:solidFill>
                  <a:schemeClr val="tx1"/>
                </a:solidFill>
                <a:latin typeface="Gill Sans" charset="0"/>
                <a:ea typeface="MS PGothic" panose="020B0600070205080204" pitchFamily="34" charset="-128"/>
              </a:defRPr>
            </a:lvl6pPr>
            <a:lvl7pPr marL="2971800" indent="-228600" defTabSz="4649788" eaLnBrk="0" fontAlgn="base" hangingPunct="0">
              <a:spcBef>
                <a:spcPct val="0"/>
              </a:spcBef>
              <a:spcAft>
                <a:spcPct val="0"/>
              </a:spcAft>
              <a:defRPr sz="2400">
                <a:solidFill>
                  <a:schemeClr val="tx1"/>
                </a:solidFill>
                <a:latin typeface="Gill Sans" charset="0"/>
                <a:ea typeface="MS PGothic" panose="020B0600070205080204" pitchFamily="34" charset="-128"/>
              </a:defRPr>
            </a:lvl7pPr>
            <a:lvl8pPr marL="3429000" indent="-228600" defTabSz="4649788" eaLnBrk="0" fontAlgn="base" hangingPunct="0">
              <a:spcBef>
                <a:spcPct val="0"/>
              </a:spcBef>
              <a:spcAft>
                <a:spcPct val="0"/>
              </a:spcAft>
              <a:defRPr sz="2400">
                <a:solidFill>
                  <a:schemeClr val="tx1"/>
                </a:solidFill>
                <a:latin typeface="Gill Sans" charset="0"/>
                <a:ea typeface="MS PGothic" panose="020B0600070205080204" pitchFamily="34" charset="-128"/>
              </a:defRPr>
            </a:lvl8pPr>
            <a:lvl9pPr marL="3886200" indent="-228600" defTabSz="4649788" eaLnBrk="0" fontAlgn="base" hangingPunct="0">
              <a:spcBef>
                <a:spcPct val="0"/>
              </a:spcBef>
              <a:spcAft>
                <a:spcPct val="0"/>
              </a:spcAft>
              <a:defRPr sz="2400">
                <a:solidFill>
                  <a:schemeClr val="tx1"/>
                </a:solidFill>
                <a:latin typeface="Gill Sans" charset="0"/>
                <a:ea typeface="MS PGothic" panose="020B0600070205080204" pitchFamily="34" charset="-128"/>
              </a:defRPr>
            </a:lvl9pPr>
          </a:lstStyle>
          <a:p>
            <a:pPr lvl="1" algn="r" eaLnBrk="1" hangingPunct="1"/>
            <a:r>
              <a:rPr lang="en-US" altLang="en-US" sz="2572" dirty="0">
                <a:solidFill>
                  <a:srgbClr val="000000"/>
                </a:solidFill>
                <a:latin typeface="Corbel" panose="020B0503020204020204" pitchFamily="34" charset="0"/>
              </a:rPr>
              <a:t>			      </a:t>
            </a:r>
            <a:r>
              <a:rPr lang="en-US" altLang="en-US" sz="2625" dirty="0">
                <a:solidFill>
                  <a:srgbClr val="000000"/>
                </a:solidFill>
                <a:latin typeface="Corbel" panose="020B0503020204020204" pitchFamily="34" charset="0"/>
              </a:rPr>
              <a:t>Psychonomic Society 66</a:t>
            </a:r>
            <a:r>
              <a:rPr lang="en-US" altLang="en-US" sz="2625" baseline="30000" dirty="0">
                <a:solidFill>
                  <a:srgbClr val="000000"/>
                </a:solidFill>
                <a:latin typeface="Corbel" panose="020B0503020204020204" pitchFamily="34" charset="0"/>
              </a:rPr>
              <a:t>th</a:t>
            </a:r>
            <a:r>
              <a:rPr lang="en-US" altLang="en-US" sz="2625" dirty="0">
                <a:solidFill>
                  <a:srgbClr val="000000"/>
                </a:solidFill>
                <a:latin typeface="Corbel" panose="020B0503020204020204" pitchFamily="34" charset="0"/>
              </a:rPr>
              <a:t> Annual Meeting, Denver, CO - November 20-23</a:t>
            </a:r>
            <a:r>
              <a:rPr lang="en-US" altLang="en-US" sz="2625" baseline="30000" dirty="0">
                <a:solidFill>
                  <a:srgbClr val="000000"/>
                </a:solidFill>
                <a:latin typeface="Corbel" panose="020B0503020204020204" pitchFamily="34" charset="0"/>
              </a:rPr>
              <a:t>rd</a:t>
            </a:r>
            <a:r>
              <a:rPr lang="en-US" altLang="en-US" sz="2625" dirty="0">
                <a:solidFill>
                  <a:srgbClr val="000000"/>
                </a:solidFill>
                <a:latin typeface="Corbel" panose="020B0503020204020204" pitchFamily="34" charset="0"/>
              </a:rPr>
              <a:t>, 2025</a:t>
            </a:r>
          </a:p>
          <a:p>
            <a:pPr lvl="1" algn="ctr" eaLnBrk="1" hangingPunct="1"/>
            <a:endParaRPr lang="en-US" altLang="en-US" sz="2625" dirty="0">
              <a:solidFill>
                <a:srgbClr val="000000"/>
              </a:solidFill>
              <a:latin typeface="Corbel" panose="020B0503020204020204" pitchFamily="34" charset="0"/>
            </a:endParaRPr>
          </a:p>
        </p:txBody>
      </p:sp>
      <p:sp>
        <p:nvSpPr>
          <p:cNvPr id="225" name="Rectangle 224">
            <a:extLst>
              <a:ext uri="{FF2B5EF4-FFF2-40B4-BE49-F238E27FC236}">
                <a16:creationId xmlns:a16="http://schemas.microsoft.com/office/drawing/2014/main" id="{C08358CC-E86E-2C44-A3A1-B92EBC464819}"/>
              </a:ext>
            </a:extLst>
          </p:cNvPr>
          <p:cNvSpPr/>
          <p:nvPr/>
        </p:nvSpPr>
        <p:spPr>
          <a:xfrm>
            <a:off x="13412469" y="28056413"/>
            <a:ext cx="8023742" cy="605422"/>
          </a:xfrm>
          <a:prstGeom prst="rect">
            <a:avLst/>
          </a:prstGeom>
        </p:spPr>
        <p:txBody>
          <a:bodyPr wrap="square">
            <a:spAutoFit/>
          </a:bodyPr>
          <a:lstStyle/>
          <a:p>
            <a:r>
              <a:rPr lang="en-US" sz="1667" b="1" i="1" dirty="0">
                <a:latin typeface="Corbel" panose="020B0503020204020204" pitchFamily="34" charset="0"/>
                <a:cs typeface="Georgia"/>
              </a:rPr>
              <a:t>Figure 3</a:t>
            </a:r>
            <a:r>
              <a:rPr lang="en-US" sz="1667" i="1" dirty="0">
                <a:latin typeface="Corbel" panose="020B0503020204020204" pitchFamily="34" charset="0"/>
                <a:cs typeface="Georgia"/>
              </a:rPr>
              <a:t>.</a:t>
            </a:r>
            <a:r>
              <a:rPr lang="en-US" sz="1667" dirty="0">
                <a:latin typeface="Corbel" panose="020B0503020204020204" pitchFamily="34" charset="0"/>
                <a:cs typeface="Georgia"/>
              </a:rPr>
              <a:t> Group level general linear model results by task condition, p&lt; 0.05 FWE corrected</a:t>
            </a:r>
          </a:p>
        </p:txBody>
      </p:sp>
      <p:pic>
        <p:nvPicPr>
          <p:cNvPr id="97" name="Google Shape;97;p1"/>
          <p:cNvPicPr preferRelativeResize="0"/>
          <p:nvPr/>
        </p:nvPicPr>
        <p:blipFill rotWithShape="1">
          <a:blip r:embed="rId5">
            <a:alphaModFix/>
          </a:blip>
          <a:srcRect/>
          <a:stretch/>
        </p:blipFill>
        <p:spPr>
          <a:xfrm>
            <a:off x="11633630" y="6437009"/>
            <a:ext cx="10257855" cy="23969546"/>
          </a:xfrm>
          <a:prstGeom prst="rect">
            <a:avLst/>
          </a:prstGeom>
          <a:noFill/>
          <a:ln>
            <a:noFill/>
          </a:ln>
        </p:spPr>
      </p:pic>
      <p:pic>
        <p:nvPicPr>
          <p:cNvPr id="98" name="Google Shape;98;p1"/>
          <p:cNvPicPr preferRelativeResize="0"/>
          <p:nvPr/>
        </p:nvPicPr>
        <p:blipFill rotWithShape="1">
          <a:blip r:embed="rId6">
            <a:alphaModFix/>
          </a:blip>
          <a:srcRect/>
          <a:stretch/>
        </p:blipFill>
        <p:spPr>
          <a:xfrm>
            <a:off x="22358003" y="6390889"/>
            <a:ext cx="10717785" cy="23969546"/>
          </a:xfrm>
          <a:prstGeom prst="rect">
            <a:avLst/>
          </a:prstGeom>
          <a:noFill/>
          <a:ln>
            <a:noFill/>
          </a:ln>
        </p:spPr>
      </p:pic>
      <p:grpSp>
        <p:nvGrpSpPr>
          <p:cNvPr id="43" name="Group 42"/>
          <p:cNvGrpSpPr/>
          <p:nvPr/>
        </p:nvGrpSpPr>
        <p:grpSpPr>
          <a:xfrm>
            <a:off x="24020742" y="18332242"/>
            <a:ext cx="1830978" cy="3444442"/>
            <a:chOff x="22420596" y="26409926"/>
            <a:chExt cx="1749574" cy="3542497"/>
          </a:xfrm>
        </p:grpSpPr>
        <p:sp>
          <p:nvSpPr>
            <p:cNvPr id="20" name="TextBox 19"/>
            <p:cNvSpPr txBox="1"/>
            <p:nvPr/>
          </p:nvSpPr>
          <p:spPr>
            <a:xfrm>
              <a:off x="23684689" y="26409926"/>
              <a:ext cx="485481" cy="394011"/>
            </a:xfrm>
            <a:prstGeom prst="rect">
              <a:avLst/>
            </a:prstGeom>
            <a:noFill/>
          </p:spPr>
          <p:txBody>
            <a:bodyPr wrap="square" rtlCol="0">
              <a:spAutoFit/>
            </a:bodyPr>
            <a:lstStyle/>
            <a:p>
              <a:endParaRPr lang="en-US" sz="1667" b="1" dirty="0">
                <a:latin typeface="Corbel" panose="020B0503020204020204" pitchFamily="34" charset="0"/>
              </a:endParaRPr>
            </a:p>
          </p:txBody>
        </p:sp>
        <p:sp>
          <p:nvSpPr>
            <p:cNvPr id="257" name="TextBox 256"/>
            <p:cNvSpPr txBox="1"/>
            <p:nvPr/>
          </p:nvSpPr>
          <p:spPr>
            <a:xfrm>
              <a:off x="22420596" y="29558412"/>
              <a:ext cx="485481" cy="394011"/>
            </a:xfrm>
            <a:prstGeom prst="rect">
              <a:avLst/>
            </a:prstGeom>
            <a:noFill/>
          </p:spPr>
          <p:txBody>
            <a:bodyPr wrap="square" rtlCol="0">
              <a:spAutoFit/>
            </a:bodyPr>
            <a:lstStyle/>
            <a:p>
              <a:endParaRPr lang="en-US" sz="1667" b="1" dirty="0">
                <a:latin typeface="Corbel" panose="020B0503020204020204" pitchFamily="34" charset="0"/>
              </a:endParaRPr>
            </a:p>
          </p:txBody>
        </p:sp>
      </p:grpSp>
      <p:grpSp>
        <p:nvGrpSpPr>
          <p:cNvPr id="31" name="Group 30"/>
          <p:cNvGrpSpPr/>
          <p:nvPr/>
        </p:nvGrpSpPr>
        <p:grpSpPr>
          <a:xfrm>
            <a:off x="24314565" y="7648654"/>
            <a:ext cx="9831265" cy="5251343"/>
            <a:chOff x="23574097" y="16393929"/>
            <a:chExt cx="8685113" cy="4969363"/>
          </a:xfrm>
        </p:grpSpPr>
        <p:sp>
          <p:nvSpPr>
            <p:cNvPr id="255" name="TextBox 254"/>
            <p:cNvSpPr txBox="1"/>
            <p:nvPr/>
          </p:nvSpPr>
          <p:spPr>
            <a:xfrm>
              <a:off x="31779653" y="16393929"/>
              <a:ext cx="479557" cy="229141"/>
            </a:xfrm>
            <a:prstGeom prst="rect">
              <a:avLst/>
            </a:prstGeom>
            <a:noFill/>
            <a:ln w="9525">
              <a:noFill/>
            </a:ln>
          </p:spPr>
          <p:txBody>
            <a:bodyPr wrap="square" rtlCol="0">
              <a:spAutoFit/>
            </a:bodyPr>
            <a:lstStyle/>
            <a:p>
              <a:r>
                <a:rPr lang="en-US" sz="833" dirty="0">
                  <a:solidFill>
                    <a:schemeClr val="tx1">
                      <a:lumMod val="75000"/>
                      <a:lumOff val="25000"/>
                    </a:schemeClr>
                  </a:solidFill>
                </a:rPr>
                <a:t>+</a:t>
              </a:r>
            </a:p>
          </p:txBody>
        </p:sp>
        <p:sp>
          <p:nvSpPr>
            <p:cNvPr id="258" name="TextBox 257"/>
            <p:cNvSpPr txBox="1"/>
            <p:nvPr/>
          </p:nvSpPr>
          <p:spPr>
            <a:xfrm>
              <a:off x="23574097" y="21000758"/>
              <a:ext cx="485480" cy="362534"/>
            </a:xfrm>
            <a:prstGeom prst="rect">
              <a:avLst/>
            </a:prstGeom>
            <a:noFill/>
          </p:spPr>
          <p:txBody>
            <a:bodyPr wrap="square" rtlCol="0">
              <a:spAutoFit/>
            </a:bodyPr>
            <a:lstStyle/>
            <a:p>
              <a:endParaRPr lang="en-US" sz="1667" b="1" dirty="0">
                <a:latin typeface="Corbel" panose="020B0503020204020204" pitchFamily="34" charset="0"/>
              </a:endParaRPr>
            </a:p>
          </p:txBody>
        </p:sp>
      </p:grpSp>
      <p:sp>
        <p:nvSpPr>
          <p:cNvPr id="398" name="TextBox 397"/>
          <p:cNvSpPr txBox="1"/>
          <p:nvPr/>
        </p:nvSpPr>
        <p:spPr>
          <a:xfrm>
            <a:off x="29923335" y="22531221"/>
            <a:ext cx="432257" cy="271934"/>
          </a:xfrm>
          <a:prstGeom prst="rect">
            <a:avLst/>
          </a:prstGeom>
          <a:noFill/>
          <a:ln w="9525">
            <a:noFill/>
          </a:ln>
        </p:spPr>
        <p:txBody>
          <a:bodyPr wrap="square" rtlCol="0">
            <a:spAutoFit/>
          </a:bodyPr>
          <a:lstStyle/>
          <a:p>
            <a:r>
              <a:rPr lang="en-US" sz="1167" dirty="0">
                <a:solidFill>
                  <a:schemeClr val="tx1">
                    <a:lumMod val="75000"/>
                    <a:lumOff val="25000"/>
                  </a:schemeClr>
                </a:solidFill>
              </a:rPr>
              <a:t>*</a:t>
            </a:r>
          </a:p>
        </p:txBody>
      </p:sp>
      <p:grpSp>
        <p:nvGrpSpPr>
          <p:cNvPr id="8" name="Group 7">
            <a:extLst>
              <a:ext uri="{FF2B5EF4-FFF2-40B4-BE49-F238E27FC236}">
                <a16:creationId xmlns:a16="http://schemas.microsoft.com/office/drawing/2014/main" id="{A9BD60C2-F292-45D5-8B51-98FD7862CC5C}"/>
              </a:ext>
            </a:extLst>
          </p:cNvPr>
          <p:cNvGrpSpPr/>
          <p:nvPr/>
        </p:nvGrpSpPr>
        <p:grpSpPr>
          <a:xfrm>
            <a:off x="33648480" y="26149294"/>
            <a:ext cx="9417912" cy="2644907"/>
            <a:chOff x="33042913" y="24499681"/>
            <a:chExt cx="10241280" cy="6631439"/>
          </a:xfrm>
        </p:grpSpPr>
        <p:pic>
          <p:nvPicPr>
            <p:cNvPr id="104" name="Google Shape;104;p1"/>
            <p:cNvPicPr preferRelativeResize="0"/>
            <p:nvPr/>
          </p:nvPicPr>
          <p:blipFill rotWithShape="1">
            <a:blip r:embed="rId7">
              <a:alphaModFix/>
            </a:blip>
            <a:srcRect/>
            <a:stretch/>
          </p:blipFill>
          <p:spPr>
            <a:xfrm>
              <a:off x="33042913" y="24654315"/>
              <a:ext cx="10241280" cy="6476805"/>
            </a:xfrm>
            <a:prstGeom prst="rect">
              <a:avLst/>
            </a:prstGeom>
            <a:noFill/>
            <a:ln>
              <a:noFill/>
            </a:ln>
          </p:spPr>
        </p:pic>
        <p:sp>
          <p:nvSpPr>
            <p:cNvPr id="30" name="TextBox 29"/>
            <p:cNvSpPr txBox="1"/>
            <p:nvPr/>
          </p:nvSpPr>
          <p:spPr>
            <a:xfrm>
              <a:off x="34534526" y="24499681"/>
              <a:ext cx="7258050" cy="1180804"/>
            </a:xfrm>
            <a:prstGeom prst="rect">
              <a:avLst/>
            </a:prstGeom>
            <a:noFill/>
          </p:spPr>
          <p:txBody>
            <a:bodyPr wrap="square" rtlCol="0">
              <a:spAutoFit/>
            </a:bodyPr>
            <a:lstStyle/>
            <a:p>
              <a:pPr algn="ctr"/>
              <a:r>
                <a:rPr lang="en-US" sz="4500" dirty="0">
                  <a:latin typeface="Corbel" panose="020B0503020204020204" pitchFamily="34" charset="0"/>
                </a:rPr>
                <a:t>References</a:t>
              </a:r>
            </a:p>
          </p:txBody>
        </p:sp>
      </p:grpSp>
      <p:pic>
        <p:nvPicPr>
          <p:cNvPr id="84" name="Google Shape;84;p1"/>
          <p:cNvPicPr preferRelativeResize="0"/>
          <p:nvPr/>
        </p:nvPicPr>
        <p:blipFill rotWithShape="1">
          <a:blip r:embed="rId8">
            <a:alphaModFix/>
          </a:blip>
          <a:srcRect/>
          <a:stretch/>
        </p:blipFill>
        <p:spPr>
          <a:xfrm>
            <a:off x="2334329" y="47672"/>
            <a:ext cx="3802977" cy="5240255"/>
          </a:xfrm>
          <a:prstGeom prst="rect">
            <a:avLst/>
          </a:prstGeom>
          <a:noFill/>
          <a:ln>
            <a:noFill/>
          </a:ln>
        </p:spPr>
      </p:pic>
      <p:pic>
        <p:nvPicPr>
          <p:cNvPr id="85" name="Google Shape;85;p1"/>
          <p:cNvPicPr preferRelativeResize="0"/>
          <p:nvPr/>
        </p:nvPicPr>
        <p:blipFill rotWithShape="1">
          <a:blip r:embed="rId9">
            <a:alphaModFix/>
          </a:blip>
          <a:srcRect/>
          <a:stretch/>
        </p:blipFill>
        <p:spPr>
          <a:xfrm>
            <a:off x="31928839" y="1273193"/>
            <a:ext cx="4332747" cy="3715101"/>
          </a:xfrm>
          <a:prstGeom prst="rect">
            <a:avLst/>
          </a:prstGeom>
          <a:noFill/>
          <a:ln>
            <a:noFill/>
          </a:ln>
        </p:spPr>
      </p:pic>
      <p:sp>
        <p:nvSpPr>
          <p:cNvPr id="86" name="Google Shape;86;p1"/>
          <p:cNvSpPr txBox="1"/>
          <p:nvPr/>
        </p:nvSpPr>
        <p:spPr>
          <a:xfrm>
            <a:off x="10562664" y="166642"/>
            <a:ext cx="22765873" cy="3010402"/>
          </a:xfrm>
          <a:prstGeom prst="rect">
            <a:avLst/>
          </a:prstGeom>
          <a:noFill/>
          <a:ln>
            <a:noFill/>
          </a:ln>
        </p:spPr>
        <p:txBody>
          <a:bodyPr spcFirstLastPara="1" wrap="square" lIns="85711" tIns="42844" rIns="85711" bIns="42844" anchor="t" anchorCtr="0">
            <a:spAutoFit/>
          </a:bodyPr>
          <a:lstStyle/>
          <a:p>
            <a:pPr algn="ctr"/>
            <a:r>
              <a:rPr lang="en-US" sz="9500" dirty="0">
                <a:solidFill>
                  <a:schemeClr val="dk1"/>
                </a:solidFill>
                <a:latin typeface="Corbel" panose="020B0503020204020204" pitchFamily="34" charset="0"/>
                <a:ea typeface="Sorts Mill Goudy"/>
                <a:cs typeface="Sorts Mill Goudy"/>
                <a:sym typeface="Sorts Mill Goudy"/>
              </a:rPr>
              <a:t>Exploring Individual Differences in </a:t>
            </a:r>
          </a:p>
          <a:p>
            <a:pPr algn="ctr"/>
            <a:r>
              <a:rPr lang="en-US" sz="9500" dirty="0">
                <a:solidFill>
                  <a:schemeClr val="dk1"/>
                </a:solidFill>
                <a:latin typeface="Corbel" panose="020B0503020204020204" pitchFamily="34" charset="0"/>
                <a:ea typeface="Sorts Mill Goudy"/>
                <a:cs typeface="Sorts Mill Goudy"/>
                <a:sym typeface="Sorts Mill Goudy"/>
              </a:rPr>
              <a:t>Decision Strategy</a:t>
            </a:r>
            <a:endParaRPr sz="9500" dirty="0">
              <a:solidFill>
                <a:schemeClr val="dk1"/>
              </a:solidFill>
              <a:latin typeface="Corbel" panose="020B0503020204020204" pitchFamily="34" charset="0"/>
              <a:ea typeface="Sorts Mill Goudy"/>
              <a:cs typeface="Sorts Mill Goudy"/>
              <a:sym typeface="Sorts Mill Goudy"/>
            </a:endParaRPr>
          </a:p>
        </p:txBody>
      </p:sp>
      <p:pic>
        <p:nvPicPr>
          <p:cNvPr id="87" name="Google Shape;87;p1"/>
          <p:cNvPicPr preferRelativeResize="0"/>
          <p:nvPr/>
        </p:nvPicPr>
        <p:blipFill rotWithShape="1">
          <a:blip r:embed="rId10">
            <a:alphaModFix/>
          </a:blip>
          <a:srcRect/>
          <a:stretch/>
        </p:blipFill>
        <p:spPr>
          <a:xfrm>
            <a:off x="6996735" y="1055770"/>
            <a:ext cx="4837080" cy="3863599"/>
          </a:xfrm>
          <a:prstGeom prst="rect">
            <a:avLst/>
          </a:prstGeom>
          <a:noFill/>
          <a:ln>
            <a:noFill/>
          </a:ln>
        </p:spPr>
      </p:pic>
      <p:pic>
        <p:nvPicPr>
          <p:cNvPr id="93" name="Google Shape;93;p1"/>
          <p:cNvPicPr preferRelativeResize="0">
            <a:picLocks/>
          </p:cNvPicPr>
          <p:nvPr/>
        </p:nvPicPr>
        <p:blipFill rotWithShape="1">
          <a:blip r:embed="rId11">
            <a:alphaModFix/>
          </a:blip>
          <a:srcRect/>
          <a:stretch/>
        </p:blipFill>
        <p:spPr>
          <a:xfrm>
            <a:off x="-1168400" y="5231216"/>
            <a:ext cx="45770799" cy="847539"/>
          </a:xfrm>
          <a:prstGeom prst="rect">
            <a:avLst/>
          </a:prstGeom>
          <a:noFill/>
          <a:ln>
            <a:noFill/>
          </a:ln>
        </p:spPr>
      </p:pic>
      <p:sp>
        <p:nvSpPr>
          <p:cNvPr id="389" name="TextBox 388">
            <a:extLst>
              <a:ext uri="{FF2B5EF4-FFF2-40B4-BE49-F238E27FC236}">
                <a16:creationId xmlns:a16="http://schemas.microsoft.com/office/drawing/2014/main" id="{1E062693-6B95-7CB3-E060-59D0A38658B8}"/>
              </a:ext>
            </a:extLst>
          </p:cNvPr>
          <p:cNvSpPr txBox="1"/>
          <p:nvPr/>
        </p:nvSpPr>
        <p:spPr>
          <a:xfrm>
            <a:off x="12219768" y="3199540"/>
            <a:ext cx="19451664" cy="1846659"/>
          </a:xfrm>
          <a:prstGeom prst="rect">
            <a:avLst/>
          </a:prstGeom>
          <a:noFill/>
        </p:spPr>
        <p:txBody>
          <a:bodyPr wrap="square" rtlCol="0">
            <a:spAutoFit/>
          </a:bodyPr>
          <a:lstStyle/>
          <a:p>
            <a:pPr algn="ctr"/>
            <a:r>
              <a:rPr lang="en-US" sz="3800" dirty="0">
                <a:latin typeface="Corbel" panose="020B0503020204020204" pitchFamily="34" charset="0"/>
              </a:rPr>
              <a:t>Maia Czerwonka,</a:t>
            </a:r>
            <a:r>
              <a:rPr lang="en-US" sz="3800" baseline="30000" dirty="0">
                <a:latin typeface="Corbel" panose="020B0503020204020204" pitchFamily="34" charset="0"/>
              </a:rPr>
              <a:t>1</a:t>
            </a:r>
            <a:r>
              <a:rPr lang="en-US" sz="3800" dirty="0">
                <a:latin typeface="Corbel" panose="020B0503020204020204" pitchFamily="34" charset="0"/>
              </a:rPr>
              <a:t> Malayka Mottarella,</a:t>
            </a:r>
            <a:r>
              <a:rPr lang="en-US" sz="3800" baseline="30000" dirty="0">
                <a:latin typeface="Corbel" panose="020B0503020204020204" pitchFamily="34" charset="0"/>
              </a:rPr>
              <a:t>2</a:t>
            </a:r>
            <a:r>
              <a:rPr lang="en-US" sz="3800" dirty="0">
                <a:latin typeface="Corbel" panose="020B0503020204020204" pitchFamily="34" charset="0"/>
              </a:rPr>
              <a:t> &amp; Chantel S. Prat</a:t>
            </a:r>
            <a:r>
              <a:rPr lang="en-US" sz="3800" baseline="30000" dirty="0">
                <a:latin typeface="Corbel" panose="020B0503020204020204" pitchFamily="34" charset="0"/>
              </a:rPr>
              <a:t> 1</a:t>
            </a:r>
            <a:r>
              <a:rPr lang="en-US" sz="3800" dirty="0">
                <a:latin typeface="Corbel" panose="020B0503020204020204" pitchFamily="34" charset="0"/>
              </a:rPr>
              <a:t> </a:t>
            </a:r>
          </a:p>
          <a:p>
            <a:pPr marL="742950" indent="-742950" algn="ctr">
              <a:buAutoNum type="arabicPeriod"/>
            </a:pPr>
            <a:r>
              <a:rPr lang="en-US" sz="3800" dirty="0">
                <a:latin typeface="Corbel" panose="020B0503020204020204" pitchFamily="34" charset="0"/>
              </a:rPr>
              <a:t>Department of Psychology, University of Washington</a:t>
            </a:r>
          </a:p>
          <a:p>
            <a:pPr marL="742950" indent="-742950" algn="ctr">
              <a:buAutoNum type="arabicPeriod"/>
            </a:pPr>
            <a:r>
              <a:rPr lang="en-US" sz="3800" dirty="0">
                <a:latin typeface="Corbel" panose="020B0503020204020204" pitchFamily="34" charset="0"/>
              </a:rPr>
              <a:t>Exponent, Inc.</a:t>
            </a:r>
          </a:p>
        </p:txBody>
      </p:sp>
      <p:pic>
        <p:nvPicPr>
          <p:cNvPr id="96" name="Google Shape;96;p1"/>
          <p:cNvPicPr preferRelativeResize="0"/>
          <p:nvPr/>
        </p:nvPicPr>
        <p:blipFill rotWithShape="1">
          <a:blip r:embed="rId5">
            <a:alphaModFix/>
          </a:blip>
          <a:srcRect/>
          <a:stretch/>
        </p:blipFill>
        <p:spPr>
          <a:xfrm>
            <a:off x="919227" y="6437009"/>
            <a:ext cx="10245781" cy="23991072"/>
          </a:xfrm>
          <a:prstGeom prst="rect">
            <a:avLst/>
          </a:prstGeom>
          <a:noFill/>
          <a:ln>
            <a:noFill/>
          </a:ln>
        </p:spPr>
      </p:pic>
      <p:sp>
        <p:nvSpPr>
          <p:cNvPr id="151" name="Rectangle 150">
            <a:extLst>
              <a:ext uri="{FF2B5EF4-FFF2-40B4-BE49-F238E27FC236}">
                <a16:creationId xmlns:a16="http://schemas.microsoft.com/office/drawing/2014/main" id="{C08358CC-E86E-2C44-A3A1-B92EBC464819}"/>
              </a:ext>
            </a:extLst>
          </p:cNvPr>
          <p:cNvSpPr/>
          <p:nvPr/>
        </p:nvSpPr>
        <p:spPr>
          <a:xfrm>
            <a:off x="1052566" y="14649302"/>
            <a:ext cx="10080448" cy="692497"/>
          </a:xfrm>
          <a:prstGeom prst="rect">
            <a:avLst/>
          </a:prstGeom>
        </p:spPr>
        <p:txBody>
          <a:bodyPr wrap="square">
            <a:spAutoFit/>
          </a:bodyPr>
          <a:lstStyle/>
          <a:p>
            <a:r>
              <a:rPr lang="en-US" sz="1900" b="1" i="1" dirty="0">
                <a:latin typeface="Corbel" panose="020B0503020204020204" pitchFamily="34" charset="0"/>
                <a:cs typeface="Georgia"/>
              </a:rPr>
              <a:t>Figure 1</a:t>
            </a:r>
            <a:r>
              <a:rPr lang="en-US" sz="1900" i="1" dirty="0">
                <a:latin typeface="Corbel" panose="020B0503020204020204" pitchFamily="34" charset="0"/>
                <a:cs typeface="Georgia"/>
              </a:rPr>
              <a:t>.</a:t>
            </a:r>
            <a:r>
              <a:rPr lang="en-US" sz="1900" dirty="0">
                <a:latin typeface="Corbel" panose="020B0503020204020204" pitchFamily="34" charset="0"/>
                <a:cs typeface="Georgia"/>
              </a:rPr>
              <a:t> Upper panel shows congruent trials and the keys that correspond to each suit as presented during instructions. Lower panel shows an example of an incongruent trial (adapted from 1)</a:t>
            </a:r>
            <a:r>
              <a:rPr lang="en-US" sz="2000" dirty="0">
                <a:latin typeface="Corbel" panose="020B0503020204020204" pitchFamily="34" charset="0"/>
                <a:cs typeface="Georgia"/>
              </a:rPr>
              <a:t>.</a:t>
            </a:r>
          </a:p>
        </p:txBody>
      </p:sp>
      <p:sp>
        <p:nvSpPr>
          <p:cNvPr id="400" name="TextBox 399">
            <a:extLst>
              <a:ext uri="{FF2B5EF4-FFF2-40B4-BE49-F238E27FC236}">
                <a16:creationId xmlns:a16="http://schemas.microsoft.com/office/drawing/2014/main" id="{6F68BFF0-5E20-E5F8-570D-8DDE8998DD9F}"/>
              </a:ext>
            </a:extLst>
          </p:cNvPr>
          <p:cNvSpPr txBox="1"/>
          <p:nvPr/>
        </p:nvSpPr>
        <p:spPr>
          <a:xfrm>
            <a:off x="1384559" y="17398048"/>
            <a:ext cx="9505494" cy="2015936"/>
          </a:xfrm>
          <a:prstGeom prst="rect">
            <a:avLst/>
          </a:prstGeom>
          <a:noFill/>
        </p:spPr>
        <p:txBody>
          <a:bodyPr wrap="square" rtlCol="0">
            <a:spAutoFit/>
          </a:bodyPr>
          <a:lstStyle/>
          <a:p>
            <a:pPr algn="ctr"/>
            <a:r>
              <a:rPr lang="en-US" sz="4500" b="1" dirty="0">
                <a:latin typeface="Corbel" panose="020B0503020204020204" pitchFamily="34" charset="0"/>
              </a:rPr>
              <a:t>Experiment 1: </a:t>
            </a:r>
          </a:p>
          <a:p>
            <a:pPr algn="ctr"/>
            <a:r>
              <a:rPr lang="en-US" sz="4000" b="1" i="1" dirty="0">
                <a:latin typeface="Corbel" panose="020B0503020204020204" pitchFamily="34" charset="0"/>
              </a:rPr>
              <a:t>Do individual differences in strength of bias influence sensitivity to conflict?</a:t>
            </a:r>
          </a:p>
        </p:txBody>
      </p:sp>
      <p:sp>
        <p:nvSpPr>
          <p:cNvPr id="456" name="TextBox 455">
            <a:extLst>
              <a:ext uri="{FF2B5EF4-FFF2-40B4-BE49-F238E27FC236}">
                <a16:creationId xmlns:a16="http://schemas.microsoft.com/office/drawing/2014/main" id="{D58027AE-6E4D-5397-7807-A94384BE59A0}"/>
              </a:ext>
            </a:extLst>
          </p:cNvPr>
          <p:cNvSpPr txBox="1"/>
          <p:nvPr/>
        </p:nvSpPr>
        <p:spPr>
          <a:xfrm>
            <a:off x="13654149" y="27485719"/>
            <a:ext cx="7782062" cy="477054"/>
          </a:xfrm>
          <a:prstGeom prst="rect">
            <a:avLst/>
          </a:prstGeom>
          <a:noFill/>
        </p:spPr>
        <p:txBody>
          <a:bodyPr wrap="square">
            <a:spAutoFit/>
          </a:bodyPr>
          <a:lstStyle/>
          <a:p>
            <a:r>
              <a:rPr lang="en-US" sz="2500" dirty="0">
                <a:latin typeface="Corbel" panose="020B0503020204020204" pitchFamily="34" charset="0"/>
              </a:rPr>
              <a:t>	</a:t>
            </a:r>
          </a:p>
        </p:txBody>
      </p:sp>
      <p:sp>
        <p:nvSpPr>
          <p:cNvPr id="457" name="TextBox 456">
            <a:extLst>
              <a:ext uri="{FF2B5EF4-FFF2-40B4-BE49-F238E27FC236}">
                <a16:creationId xmlns:a16="http://schemas.microsoft.com/office/drawing/2014/main" id="{E8E8E129-5140-8D1A-3606-6C766120BF3F}"/>
              </a:ext>
            </a:extLst>
          </p:cNvPr>
          <p:cNvSpPr txBox="1"/>
          <p:nvPr/>
        </p:nvSpPr>
        <p:spPr>
          <a:xfrm>
            <a:off x="33910984" y="26808283"/>
            <a:ext cx="9015219" cy="2585323"/>
          </a:xfrm>
          <a:prstGeom prst="rect">
            <a:avLst/>
          </a:prstGeom>
          <a:noFill/>
        </p:spPr>
        <p:txBody>
          <a:bodyPr wrap="square" rtlCol="0">
            <a:spAutoFit/>
          </a:bodyPr>
          <a:lstStyle/>
          <a:p>
            <a:pPr marL="342900" indent="-342900">
              <a:buFont typeface="+mj-lt"/>
              <a:buAutoNum type="arabicPeriod"/>
            </a:pPr>
            <a:r>
              <a:rPr lang="en-US" sz="1500" dirty="0">
                <a:latin typeface="Corbel" panose="020B0503020204020204" pitchFamily="34" charset="0"/>
              </a:rPr>
              <a:t>Alfred, K. L., Hayes, J. C., </a:t>
            </a:r>
            <a:r>
              <a:rPr lang="en-US" sz="1500" dirty="0" err="1">
                <a:latin typeface="Corbel" panose="020B0503020204020204" pitchFamily="34" charset="0"/>
              </a:rPr>
              <a:t>Pizzie</a:t>
            </a:r>
            <a:r>
              <a:rPr lang="en-US" sz="1500" dirty="0">
                <a:latin typeface="Corbel" panose="020B0503020204020204" pitchFamily="34" charset="0"/>
              </a:rPr>
              <a:t>, R. G., </a:t>
            </a:r>
            <a:r>
              <a:rPr lang="en-US" sz="1500" dirty="0" err="1">
                <a:latin typeface="Corbel" panose="020B0503020204020204" pitchFamily="34" charset="0"/>
              </a:rPr>
              <a:t>Cetron</a:t>
            </a:r>
            <a:r>
              <a:rPr lang="en-US" sz="1500" dirty="0">
                <a:latin typeface="Corbel" panose="020B0503020204020204" pitchFamily="34" charset="0"/>
              </a:rPr>
              <a:t>, J. S., &amp; Kraemer, D. J. M. (2020). Individual differences in encoded neural representations within cortical speech production network. </a:t>
            </a:r>
            <a:r>
              <a:rPr lang="en-US" sz="1500" i="1" dirty="0">
                <a:latin typeface="Corbel" panose="020B0503020204020204" pitchFamily="34" charset="0"/>
              </a:rPr>
              <a:t>Brain Research</a:t>
            </a:r>
            <a:r>
              <a:rPr lang="en-US" sz="1500" dirty="0">
                <a:latin typeface="Corbel" panose="020B0503020204020204" pitchFamily="34" charset="0"/>
              </a:rPr>
              <a:t>, </a:t>
            </a:r>
            <a:r>
              <a:rPr lang="en-US" sz="1500" i="1" dirty="0">
                <a:latin typeface="Corbel" panose="020B0503020204020204" pitchFamily="34" charset="0"/>
              </a:rPr>
              <a:t>1726</a:t>
            </a:r>
            <a:r>
              <a:rPr lang="en-US" sz="1500" dirty="0">
                <a:latin typeface="Corbel" panose="020B0503020204020204" pitchFamily="34" charset="0"/>
              </a:rPr>
              <a:t>, 146483. </a:t>
            </a:r>
            <a:r>
              <a:rPr lang="en-US" sz="1500" u="sng" dirty="0">
                <a:solidFill>
                  <a:srgbClr val="1155CC"/>
                </a:solidFill>
                <a:latin typeface="Corbel" panose="020B0503020204020204" pitchFamily="34" charset="0"/>
                <a:hlinkClick r:id="rId12"/>
              </a:rPr>
              <a:t>https://doi.org/10.1016/j.brainres.2019.146483</a:t>
            </a:r>
            <a:endParaRPr lang="en-US" sz="1500" u="sng" dirty="0">
              <a:solidFill>
                <a:srgbClr val="1155CC"/>
              </a:solidFill>
              <a:latin typeface="Corbel" panose="020B0503020204020204" pitchFamily="34" charset="0"/>
            </a:endParaRPr>
          </a:p>
          <a:p>
            <a:pPr marL="342900" indent="-342900">
              <a:buFont typeface="+mj-lt"/>
              <a:buAutoNum type="arabicPeriod"/>
            </a:pPr>
            <a:r>
              <a:rPr lang="en-US" sz="1500" dirty="0">
                <a:latin typeface="Corbel" panose="020B0503020204020204" pitchFamily="34" charset="0"/>
              </a:rPr>
              <a:t>Long, D. L. &amp; Prat, C. S. (2002). Working memory and Stroop interference: An individual differences investigation. </a:t>
            </a:r>
            <a:r>
              <a:rPr lang="en-US" sz="1500" i="1" dirty="0">
                <a:latin typeface="Corbel" panose="020B0503020204020204" pitchFamily="34" charset="0"/>
              </a:rPr>
              <a:t>Memory &amp; Cognition</a:t>
            </a:r>
            <a:r>
              <a:rPr lang="en-US" sz="1500" dirty="0">
                <a:latin typeface="Corbel" panose="020B0503020204020204" pitchFamily="34" charset="0"/>
              </a:rPr>
              <a:t>, </a:t>
            </a:r>
            <a:r>
              <a:rPr lang="en-US" sz="1500" i="1" dirty="0">
                <a:latin typeface="Corbel" panose="020B0503020204020204" pitchFamily="34" charset="0"/>
              </a:rPr>
              <a:t>30</a:t>
            </a:r>
            <a:r>
              <a:rPr lang="en-US" sz="1500" dirty="0">
                <a:latin typeface="Corbel" panose="020B0503020204020204" pitchFamily="34" charset="0"/>
              </a:rPr>
              <a:t>(2), 294–301. </a:t>
            </a:r>
            <a:r>
              <a:rPr lang="en-US" sz="1500" dirty="0">
                <a:latin typeface="Corbel" panose="020B0503020204020204" pitchFamily="34" charset="0"/>
                <a:hlinkClick r:id="rId13"/>
              </a:rPr>
              <a:t>https://doi.org/10.3758/BF03195290</a:t>
            </a:r>
            <a:endParaRPr lang="en-US" sz="1500" dirty="0">
              <a:latin typeface="Corbel" panose="020B0503020204020204" pitchFamily="34" charset="0"/>
            </a:endParaRPr>
          </a:p>
          <a:p>
            <a:pPr marL="342900" indent="-342900">
              <a:buFont typeface="+mj-lt"/>
              <a:buAutoNum type="arabicPeriod"/>
            </a:pPr>
            <a:r>
              <a:rPr lang="en-US" sz="1500" dirty="0">
                <a:latin typeface="Corbel" panose="020B0503020204020204" pitchFamily="34" charset="0"/>
              </a:rPr>
              <a:t>Myers, C. E., </a:t>
            </a:r>
            <a:r>
              <a:rPr lang="en-US" sz="1500" dirty="0" err="1">
                <a:latin typeface="Corbel" panose="020B0503020204020204" pitchFamily="34" charset="0"/>
              </a:rPr>
              <a:t>Interian</a:t>
            </a:r>
            <a:r>
              <a:rPr lang="en-US" sz="1500" dirty="0">
                <a:latin typeface="Corbel" panose="020B0503020204020204" pitchFamily="34" charset="0"/>
              </a:rPr>
              <a:t>, A., &amp; </a:t>
            </a:r>
            <a:r>
              <a:rPr lang="en-US" sz="1500" dirty="0" err="1">
                <a:latin typeface="Corbel" panose="020B0503020204020204" pitchFamily="34" charset="0"/>
              </a:rPr>
              <a:t>Moustafa</a:t>
            </a:r>
            <a:r>
              <a:rPr lang="en-US" sz="1500" dirty="0">
                <a:latin typeface="Corbel" panose="020B0503020204020204" pitchFamily="34" charset="0"/>
              </a:rPr>
              <a:t>, A. A. (2022). A practical introduction to using the drift diffusion model of decision-making in cognitive psychology, neuroscience, and health sciences. </a:t>
            </a:r>
            <a:r>
              <a:rPr lang="en-US" sz="1500" i="1" dirty="0">
                <a:latin typeface="Corbel" panose="020B0503020204020204" pitchFamily="34" charset="0"/>
              </a:rPr>
              <a:t>Frontiers in Psychology</a:t>
            </a:r>
            <a:r>
              <a:rPr lang="en-US" sz="1500" dirty="0">
                <a:latin typeface="Corbel" panose="020B0503020204020204" pitchFamily="34" charset="0"/>
              </a:rPr>
              <a:t>, </a:t>
            </a:r>
            <a:r>
              <a:rPr lang="en-US" sz="1500" i="1" dirty="0">
                <a:latin typeface="Corbel" panose="020B0503020204020204" pitchFamily="34" charset="0"/>
              </a:rPr>
              <a:t>13</a:t>
            </a:r>
            <a:r>
              <a:rPr lang="en-US" sz="1500" dirty="0">
                <a:latin typeface="Corbel" panose="020B0503020204020204" pitchFamily="34" charset="0"/>
              </a:rPr>
              <a:t>. </a:t>
            </a:r>
            <a:r>
              <a:rPr lang="en-US" sz="1500" dirty="0">
                <a:latin typeface="Corbel" panose="020B0503020204020204" pitchFamily="34" charset="0"/>
                <a:hlinkClick r:id="rId14"/>
              </a:rPr>
              <a:t>https://doi.org/10.3389/fpsyg.2022.1039172</a:t>
            </a:r>
            <a:endParaRPr lang="en-US" sz="1500" dirty="0">
              <a:latin typeface="Corbel" panose="020B0503020204020204" pitchFamily="34" charset="0"/>
            </a:endParaRPr>
          </a:p>
          <a:p>
            <a:pPr marL="342900" indent="-342900">
              <a:buFont typeface="+mj-lt"/>
              <a:buAutoNum type="arabicPeriod"/>
            </a:pPr>
            <a:endParaRPr lang="en-US" sz="2100" dirty="0">
              <a:latin typeface="Corbel" panose="020B0503020204020204" pitchFamily="34" charset="0"/>
            </a:endParaRPr>
          </a:p>
          <a:p>
            <a:pPr marL="342900" indent="-342900">
              <a:buFont typeface="+mj-lt"/>
              <a:buAutoNum type="arabicPeriod"/>
            </a:pPr>
            <a:endParaRPr lang="en-US" sz="2100" u="sng" dirty="0">
              <a:solidFill>
                <a:srgbClr val="1155CC"/>
              </a:solidFill>
              <a:latin typeface="Corbel" panose="020B0503020204020204" pitchFamily="34" charset="0"/>
            </a:endParaRPr>
          </a:p>
        </p:txBody>
      </p:sp>
      <p:grpSp>
        <p:nvGrpSpPr>
          <p:cNvPr id="458" name="Group 457">
            <a:extLst>
              <a:ext uri="{FF2B5EF4-FFF2-40B4-BE49-F238E27FC236}">
                <a16:creationId xmlns:a16="http://schemas.microsoft.com/office/drawing/2014/main" id="{28D970E9-FC45-2EA2-F375-51BE24D189D9}"/>
              </a:ext>
            </a:extLst>
          </p:cNvPr>
          <p:cNvGrpSpPr/>
          <p:nvPr/>
        </p:nvGrpSpPr>
        <p:grpSpPr>
          <a:xfrm>
            <a:off x="33638309" y="28979218"/>
            <a:ext cx="9417911" cy="1337886"/>
            <a:chOff x="33042913" y="26439418"/>
            <a:chExt cx="10241280" cy="5184339"/>
          </a:xfrm>
        </p:grpSpPr>
        <p:pic>
          <p:nvPicPr>
            <p:cNvPr id="459" name="Google Shape;104;p1">
              <a:extLst>
                <a:ext uri="{FF2B5EF4-FFF2-40B4-BE49-F238E27FC236}">
                  <a16:creationId xmlns:a16="http://schemas.microsoft.com/office/drawing/2014/main" id="{3189A487-3B10-DFE8-5899-3860F6D96084}"/>
                </a:ext>
              </a:extLst>
            </p:cNvPr>
            <p:cNvPicPr preferRelativeResize="0"/>
            <p:nvPr/>
          </p:nvPicPr>
          <p:blipFill rotWithShape="1">
            <a:blip r:embed="rId7">
              <a:alphaModFix/>
            </a:blip>
            <a:srcRect/>
            <a:stretch/>
          </p:blipFill>
          <p:spPr>
            <a:xfrm>
              <a:off x="33042913" y="26450353"/>
              <a:ext cx="10241280" cy="5173404"/>
            </a:xfrm>
            <a:prstGeom prst="rect">
              <a:avLst/>
            </a:prstGeom>
            <a:noFill/>
            <a:ln>
              <a:noFill/>
            </a:ln>
          </p:spPr>
        </p:pic>
        <p:sp>
          <p:nvSpPr>
            <p:cNvPr id="460" name="TextBox 459">
              <a:extLst>
                <a:ext uri="{FF2B5EF4-FFF2-40B4-BE49-F238E27FC236}">
                  <a16:creationId xmlns:a16="http://schemas.microsoft.com/office/drawing/2014/main" id="{CC3239A7-B4BF-8000-395A-71F2DFE5B3B6}"/>
                </a:ext>
              </a:extLst>
            </p:cNvPr>
            <p:cNvSpPr txBox="1"/>
            <p:nvPr/>
          </p:nvSpPr>
          <p:spPr>
            <a:xfrm>
              <a:off x="34424083" y="26439418"/>
              <a:ext cx="7258050" cy="3041234"/>
            </a:xfrm>
            <a:prstGeom prst="rect">
              <a:avLst/>
            </a:prstGeom>
            <a:noFill/>
          </p:spPr>
          <p:txBody>
            <a:bodyPr wrap="square" rtlCol="0">
              <a:spAutoFit/>
            </a:bodyPr>
            <a:lstStyle/>
            <a:p>
              <a:pPr algn="ctr"/>
              <a:r>
                <a:rPr lang="en-US" sz="4500" dirty="0">
                  <a:latin typeface="Corbel" panose="020B0503020204020204" pitchFamily="34" charset="0"/>
                </a:rPr>
                <a:t>Acknowledgements</a:t>
              </a:r>
            </a:p>
          </p:txBody>
        </p:sp>
      </p:grpSp>
      <p:sp>
        <p:nvSpPr>
          <p:cNvPr id="461" name="TextBox 460">
            <a:extLst>
              <a:ext uri="{FF2B5EF4-FFF2-40B4-BE49-F238E27FC236}">
                <a16:creationId xmlns:a16="http://schemas.microsoft.com/office/drawing/2014/main" id="{D68C998A-FD38-1220-1B9E-D8809D6060C8}"/>
              </a:ext>
            </a:extLst>
          </p:cNvPr>
          <p:cNvSpPr txBox="1"/>
          <p:nvPr/>
        </p:nvSpPr>
        <p:spPr>
          <a:xfrm>
            <a:off x="33815309" y="29714277"/>
            <a:ext cx="8774529" cy="553998"/>
          </a:xfrm>
          <a:prstGeom prst="rect">
            <a:avLst/>
          </a:prstGeom>
          <a:noFill/>
        </p:spPr>
        <p:txBody>
          <a:bodyPr wrap="square" rtlCol="0">
            <a:spAutoFit/>
          </a:bodyPr>
          <a:lstStyle/>
          <a:p>
            <a:r>
              <a:rPr lang="en-US" sz="1500" dirty="0">
                <a:solidFill>
                  <a:srgbClr val="222222"/>
                </a:solidFill>
                <a:latin typeface="Corbel" panose="020B0503020204020204" pitchFamily="34" charset="0"/>
              </a:rPr>
              <a:t>This research was supported by an award from the Office of Naval Research (N000142412123) to Chantel S. Prat and a scholarship from the Mary Gates Endowment for Students to Maia Czerwonka.</a:t>
            </a:r>
            <a:endParaRPr lang="en-US" sz="1500" dirty="0">
              <a:latin typeface="Corbel" panose="020B0503020204020204" pitchFamily="34" charset="0"/>
            </a:endParaRPr>
          </a:p>
        </p:txBody>
      </p:sp>
      <p:sp>
        <p:nvSpPr>
          <p:cNvPr id="465" name="TextBox 464">
            <a:extLst>
              <a:ext uri="{FF2B5EF4-FFF2-40B4-BE49-F238E27FC236}">
                <a16:creationId xmlns:a16="http://schemas.microsoft.com/office/drawing/2014/main" id="{2AFE9CCF-BBD9-452D-91E4-25AF66DE8C3E}"/>
              </a:ext>
            </a:extLst>
          </p:cNvPr>
          <p:cNvSpPr txBox="1"/>
          <p:nvPr/>
        </p:nvSpPr>
        <p:spPr>
          <a:xfrm>
            <a:off x="56083200" y="18044160"/>
            <a:ext cx="184731" cy="343620"/>
          </a:xfrm>
          <a:prstGeom prst="rect">
            <a:avLst/>
          </a:prstGeom>
          <a:noFill/>
        </p:spPr>
        <p:txBody>
          <a:bodyPr wrap="none" rtlCol="0">
            <a:spAutoFit/>
          </a:bodyPr>
          <a:lstStyle/>
          <a:p>
            <a:endParaRPr lang="en-US" dirty="0"/>
          </a:p>
        </p:txBody>
      </p:sp>
      <p:sp>
        <p:nvSpPr>
          <p:cNvPr id="54" name="TextBox 53">
            <a:extLst>
              <a:ext uri="{FF2B5EF4-FFF2-40B4-BE49-F238E27FC236}">
                <a16:creationId xmlns:a16="http://schemas.microsoft.com/office/drawing/2014/main" id="{EA3B0544-5EF9-BF9D-1C76-C3F7E608B486}"/>
              </a:ext>
            </a:extLst>
          </p:cNvPr>
          <p:cNvSpPr txBox="1"/>
          <p:nvPr/>
        </p:nvSpPr>
        <p:spPr>
          <a:xfrm>
            <a:off x="11885695" y="15482484"/>
            <a:ext cx="2095403" cy="553998"/>
          </a:xfrm>
          <a:prstGeom prst="rect">
            <a:avLst/>
          </a:prstGeom>
          <a:noFill/>
        </p:spPr>
        <p:txBody>
          <a:bodyPr wrap="square" rtlCol="0">
            <a:spAutoFit/>
          </a:bodyPr>
          <a:lstStyle/>
          <a:p>
            <a:r>
              <a:rPr lang="en-US" altLang="en-US" sz="3000" u="sng" dirty="0">
                <a:latin typeface="Corbel" panose="020B0503020204020204" pitchFamily="34" charset="0"/>
                <a:cs typeface="Arial" panose="020B0604020202020204" pitchFamily="34" charset="0"/>
              </a:rPr>
              <a:t>Discussion</a:t>
            </a:r>
          </a:p>
        </p:txBody>
      </p:sp>
      <p:sp>
        <p:nvSpPr>
          <p:cNvPr id="55" name="TextBox 54">
            <a:extLst>
              <a:ext uri="{FF2B5EF4-FFF2-40B4-BE49-F238E27FC236}">
                <a16:creationId xmlns:a16="http://schemas.microsoft.com/office/drawing/2014/main" id="{C06E8641-98B1-29D3-B533-09B3C870707C}"/>
              </a:ext>
            </a:extLst>
          </p:cNvPr>
          <p:cNvSpPr txBox="1"/>
          <p:nvPr/>
        </p:nvSpPr>
        <p:spPr>
          <a:xfrm>
            <a:off x="11960336" y="16087866"/>
            <a:ext cx="9822482" cy="1431161"/>
          </a:xfrm>
          <a:prstGeom prst="rect">
            <a:avLst/>
          </a:prstGeom>
          <a:noFill/>
        </p:spPr>
        <p:txBody>
          <a:bodyPr wrap="square" rtlCol="0">
            <a:spAutoFit/>
          </a:bodyPr>
          <a:lstStyle/>
          <a:p>
            <a:pPr marL="457200" indent="-457200">
              <a:buFont typeface="Arial" panose="020B0604020202020204" pitchFamily="34" charset="0"/>
              <a:buChar char="•"/>
            </a:pPr>
            <a:r>
              <a:rPr lang="en-US" sz="2900" dirty="0">
                <a:latin typeface="Corbel" panose="020B0503020204020204" pitchFamily="34" charset="0"/>
              </a:rPr>
              <a:t>As predicted, more format biased individuals showed smaller incongruency effects. </a:t>
            </a:r>
          </a:p>
          <a:p>
            <a:pPr marL="457200" indent="-457200">
              <a:buFont typeface="Arial" panose="020B0604020202020204" pitchFamily="34" charset="0"/>
              <a:buChar char="•"/>
            </a:pPr>
            <a:r>
              <a:rPr lang="en-US" sz="2900" dirty="0">
                <a:latin typeface="Corbel" panose="020B0503020204020204" pitchFamily="34" charset="0"/>
              </a:rPr>
              <a:t>Format biased individuals were also faster overall.  </a:t>
            </a:r>
          </a:p>
        </p:txBody>
      </p:sp>
      <p:sp>
        <p:nvSpPr>
          <p:cNvPr id="42" name="TextBox 41">
            <a:extLst>
              <a:ext uri="{FF2B5EF4-FFF2-40B4-BE49-F238E27FC236}">
                <a16:creationId xmlns:a16="http://schemas.microsoft.com/office/drawing/2014/main" id="{C0C46266-849C-815D-EEB5-2766276EEC4F}"/>
              </a:ext>
            </a:extLst>
          </p:cNvPr>
          <p:cNvSpPr txBox="1"/>
          <p:nvPr/>
        </p:nvSpPr>
        <p:spPr>
          <a:xfrm>
            <a:off x="1184899" y="22698632"/>
            <a:ext cx="9803880" cy="2323713"/>
          </a:xfrm>
          <a:prstGeom prst="rect">
            <a:avLst/>
          </a:prstGeom>
          <a:noFill/>
        </p:spPr>
        <p:txBody>
          <a:bodyPr wrap="square">
            <a:spAutoFit/>
          </a:bodyPr>
          <a:lstStyle/>
          <a:p>
            <a:r>
              <a:rPr lang="en-US" sz="2900" u="sng" dirty="0">
                <a:latin typeface="Corbel" panose="020B0503020204020204" pitchFamily="34" charset="0"/>
                <a:cs typeface="Arial" panose="020B0604020202020204" pitchFamily="34" charset="0"/>
              </a:rPr>
              <a:t>Bias Group Categorization</a:t>
            </a:r>
          </a:p>
          <a:p>
            <a:r>
              <a:rPr lang="en-US" sz="2900" dirty="0">
                <a:solidFill>
                  <a:srgbClr val="FF0000"/>
                </a:solidFill>
                <a:latin typeface="Corbel" panose="020B0503020204020204" pitchFamily="34" charset="0"/>
                <a:cs typeface="Arial" panose="020B0604020202020204" pitchFamily="34" charset="0"/>
              </a:rPr>
              <a:t>Biased Group</a:t>
            </a:r>
            <a:r>
              <a:rPr lang="en-US" sz="2900" dirty="0">
                <a:latin typeface="Corbel" panose="020B0503020204020204" pitchFamily="34" charset="0"/>
                <a:cs typeface="Arial" panose="020B0604020202020204" pitchFamily="34" charset="0"/>
              </a:rPr>
              <a:t>: &gt;90% of trials picked in one format.</a:t>
            </a:r>
          </a:p>
          <a:p>
            <a:r>
              <a:rPr lang="en-US" sz="2900" dirty="0">
                <a:solidFill>
                  <a:schemeClr val="accent5"/>
                </a:solidFill>
                <a:latin typeface="Corbel" panose="020B0503020204020204" pitchFamily="34" charset="0"/>
                <a:cs typeface="Arial" panose="020B0604020202020204" pitchFamily="34" charset="0"/>
              </a:rPr>
              <a:t>Neutral Group</a:t>
            </a:r>
            <a:r>
              <a:rPr lang="en-US" sz="2900" dirty="0">
                <a:latin typeface="Corbel" panose="020B0503020204020204" pitchFamily="34" charset="0"/>
                <a:cs typeface="Arial" panose="020B0604020202020204" pitchFamily="34" charset="0"/>
              </a:rPr>
              <a:t>: &lt;=90% or less trials picked in one format.</a:t>
            </a:r>
          </a:p>
          <a:p>
            <a:r>
              <a:rPr lang="en-US" sz="2900" dirty="0">
                <a:latin typeface="Corbel" panose="020B0503020204020204" pitchFamily="34" charset="0"/>
                <a:cs typeface="Arial" panose="020B0604020202020204" pitchFamily="34" charset="0"/>
              </a:rPr>
              <a:t>Absolute Bias: Bias percentages collapsed so equivalent bias magnitudes appear on one side of the distribution.</a:t>
            </a:r>
          </a:p>
        </p:txBody>
      </p:sp>
      <p:sp>
        <p:nvSpPr>
          <p:cNvPr id="44" name="TextBox 43">
            <a:extLst>
              <a:ext uri="{FF2B5EF4-FFF2-40B4-BE49-F238E27FC236}">
                <a16:creationId xmlns:a16="http://schemas.microsoft.com/office/drawing/2014/main" id="{B2F8CFBF-E2CC-D815-ED87-700C23EA5767}"/>
              </a:ext>
            </a:extLst>
          </p:cNvPr>
          <p:cNvSpPr txBox="1"/>
          <p:nvPr/>
        </p:nvSpPr>
        <p:spPr>
          <a:xfrm>
            <a:off x="11737380" y="17557595"/>
            <a:ext cx="9923303" cy="2631490"/>
          </a:xfrm>
          <a:prstGeom prst="rect">
            <a:avLst/>
          </a:prstGeom>
          <a:noFill/>
        </p:spPr>
        <p:txBody>
          <a:bodyPr wrap="square" rtlCol="0">
            <a:spAutoFit/>
          </a:bodyPr>
          <a:lstStyle/>
          <a:p>
            <a:pPr algn="ctr"/>
            <a:r>
              <a:rPr lang="en-US" sz="4500" b="1" dirty="0">
                <a:latin typeface="Corbel" panose="020B0503020204020204" pitchFamily="34" charset="0"/>
              </a:rPr>
              <a:t>Experiment 2: </a:t>
            </a:r>
          </a:p>
          <a:p>
            <a:pPr algn="ctr"/>
            <a:r>
              <a:rPr lang="en-US" sz="4000" b="1" i="1" dirty="0">
                <a:latin typeface="Corbel" panose="020B0503020204020204" pitchFamily="34" charset="0"/>
              </a:rPr>
              <a:t>Are differences in CST decisions under conflict driven by relative skills with formats or by a more general decision strategy?</a:t>
            </a:r>
          </a:p>
        </p:txBody>
      </p:sp>
      <p:sp>
        <p:nvSpPr>
          <p:cNvPr id="58" name="TextBox 57">
            <a:extLst>
              <a:ext uri="{FF2B5EF4-FFF2-40B4-BE49-F238E27FC236}">
                <a16:creationId xmlns:a16="http://schemas.microsoft.com/office/drawing/2014/main" id="{D2CF61D2-E008-BF2A-8B85-8651E70067F3}"/>
              </a:ext>
            </a:extLst>
          </p:cNvPr>
          <p:cNvSpPr txBox="1"/>
          <p:nvPr/>
        </p:nvSpPr>
        <p:spPr>
          <a:xfrm>
            <a:off x="12140183" y="23093304"/>
            <a:ext cx="9687765" cy="1585049"/>
          </a:xfrm>
          <a:prstGeom prst="rect">
            <a:avLst/>
          </a:prstGeom>
          <a:noFill/>
        </p:spPr>
        <p:txBody>
          <a:bodyPr wrap="square" rtlCol="0">
            <a:spAutoFit/>
          </a:bodyPr>
          <a:lstStyle/>
          <a:p>
            <a:pPr algn="ctr"/>
            <a:r>
              <a:rPr lang="en-US" sz="5200" dirty="0">
                <a:latin typeface="Corbel" panose="020B0503020204020204" pitchFamily="34" charset="0"/>
              </a:rPr>
              <a:t>Methods</a:t>
            </a:r>
          </a:p>
          <a:p>
            <a:pPr algn="ctr"/>
            <a:endParaRPr lang="en-US" sz="4500" dirty="0">
              <a:latin typeface="Corbel" panose="020B0503020204020204" pitchFamily="34" charset="0"/>
            </a:endParaRPr>
          </a:p>
        </p:txBody>
      </p:sp>
      <p:sp>
        <p:nvSpPr>
          <p:cNvPr id="472" name="TextBox 471">
            <a:extLst>
              <a:ext uri="{FF2B5EF4-FFF2-40B4-BE49-F238E27FC236}">
                <a16:creationId xmlns:a16="http://schemas.microsoft.com/office/drawing/2014/main" id="{CE020ED1-D33C-8109-CD07-CEBDBB9620CE}"/>
              </a:ext>
            </a:extLst>
          </p:cNvPr>
          <p:cNvSpPr txBox="1"/>
          <p:nvPr/>
        </p:nvSpPr>
        <p:spPr>
          <a:xfrm>
            <a:off x="22754061" y="6640965"/>
            <a:ext cx="9687765" cy="1585049"/>
          </a:xfrm>
          <a:prstGeom prst="rect">
            <a:avLst/>
          </a:prstGeom>
          <a:noFill/>
        </p:spPr>
        <p:txBody>
          <a:bodyPr wrap="square" rtlCol="0">
            <a:spAutoFit/>
          </a:bodyPr>
          <a:lstStyle/>
          <a:p>
            <a:pPr algn="ctr"/>
            <a:r>
              <a:rPr lang="en-US" sz="5200" dirty="0">
                <a:latin typeface="Corbel" panose="020B0503020204020204" pitchFamily="34" charset="0"/>
              </a:rPr>
              <a:t>Results: RT Replication</a:t>
            </a:r>
          </a:p>
          <a:p>
            <a:pPr algn="ctr"/>
            <a:endParaRPr lang="en-US" sz="4500" dirty="0">
              <a:latin typeface="Corbel" panose="020B0503020204020204" pitchFamily="34" charset="0"/>
            </a:endParaRPr>
          </a:p>
        </p:txBody>
      </p:sp>
      <p:sp>
        <p:nvSpPr>
          <p:cNvPr id="473" name="TextBox 472">
            <a:extLst>
              <a:ext uri="{FF2B5EF4-FFF2-40B4-BE49-F238E27FC236}">
                <a16:creationId xmlns:a16="http://schemas.microsoft.com/office/drawing/2014/main" id="{9EBFA8B1-04BD-1201-B4EB-A3D557A09465}"/>
              </a:ext>
            </a:extLst>
          </p:cNvPr>
          <p:cNvSpPr txBox="1"/>
          <p:nvPr/>
        </p:nvSpPr>
        <p:spPr>
          <a:xfrm>
            <a:off x="33468273" y="17089647"/>
            <a:ext cx="9687765" cy="892552"/>
          </a:xfrm>
          <a:prstGeom prst="rect">
            <a:avLst/>
          </a:prstGeom>
          <a:noFill/>
        </p:spPr>
        <p:txBody>
          <a:bodyPr wrap="square" rtlCol="0">
            <a:spAutoFit/>
          </a:bodyPr>
          <a:lstStyle/>
          <a:p>
            <a:pPr algn="ctr"/>
            <a:r>
              <a:rPr lang="en-US" sz="5200" dirty="0">
                <a:latin typeface="Corbel" panose="020B0503020204020204" pitchFamily="34" charset="0"/>
              </a:rPr>
              <a:t>Discussion</a:t>
            </a:r>
          </a:p>
        </p:txBody>
      </p:sp>
      <p:sp>
        <p:nvSpPr>
          <p:cNvPr id="488" name="TextBox 487">
            <a:extLst>
              <a:ext uri="{FF2B5EF4-FFF2-40B4-BE49-F238E27FC236}">
                <a16:creationId xmlns:a16="http://schemas.microsoft.com/office/drawing/2014/main" id="{95D00EF1-ABCD-D73D-78CA-1733B8013DFA}"/>
              </a:ext>
            </a:extLst>
          </p:cNvPr>
          <p:cNvSpPr txBox="1"/>
          <p:nvPr/>
        </p:nvSpPr>
        <p:spPr>
          <a:xfrm>
            <a:off x="12020639" y="23895580"/>
            <a:ext cx="9901748" cy="1877437"/>
          </a:xfrm>
          <a:prstGeom prst="rect">
            <a:avLst/>
          </a:prstGeom>
          <a:noFill/>
        </p:spPr>
        <p:txBody>
          <a:bodyPr wrap="square" rtlCol="0">
            <a:spAutoFit/>
          </a:bodyPr>
          <a:lstStyle/>
          <a:p>
            <a:pPr marL="457200" indent="-457200">
              <a:buFont typeface="Arial" panose="020B0604020202020204" pitchFamily="34" charset="0"/>
              <a:buChar char="•"/>
            </a:pPr>
            <a:r>
              <a:rPr lang="en-US" sz="2900" dirty="0">
                <a:latin typeface="Corbel" panose="020B0503020204020204" pitchFamily="34" charset="0"/>
              </a:rPr>
              <a:t>N=45 (to date) </a:t>
            </a:r>
          </a:p>
          <a:p>
            <a:pPr marL="457200" indent="-457200">
              <a:buFont typeface="Arial" panose="020B0604020202020204" pitchFamily="34" charset="0"/>
              <a:buChar char="•"/>
            </a:pPr>
            <a:r>
              <a:rPr lang="en-US" sz="2900" dirty="0">
                <a:latin typeface="Corbel" panose="020B0503020204020204" pitchFamily="34" charset="0"/>
              </a:rPr>
              <a:t>CST (2 blocks of 48 trials)</a:t>
            </a:r>
          </a:p>
          <a:p>
            <a:pPr marL="457200" indent="-457200">
              <a:buFont typeface="Arial" panose="020B0604020202020204" pitchFamily="34" charset="0"/>
              <a:buChar char="•"/>
            </a:pPr>
            <a:r>
              <a:rPr lang="en-US" sz="2900" dirty="0">
                <a:latin typeface="Corbel" panose="020B0503020204020204" pitchFamily="34" charset="0"/>
              </a:rPr>
              <a:t>Rule-Based Card Sorting Task (4 blocks of 48 trials, 2 word-rule, 2 picture-rule). </a:t>
            </a:r>
          </a:p>
        </p:txBody>
      </p:sp>
      <p:sp>
        <p:nvSpPr>
          <p:cNvPr id="81" name="TextBox 80">
            <a:extLst>
              <a:ext uri="{FF2B5EF4-FFF2-40B4-BE49-F238E27FC236}">
                <a16:creationId xmlns:a16="http://schemas.microsoft.com/office/drawing/2014/main" id="{C64593D6-A25F-4829-0A95-72E280363FCD}"/>
              </a:ext>
            </a:extLst>
          </p:cNvPr>
          <p:cNvSpPr txBox="1"/>
          <p:nvPr/>
        </p:nvSpPr>
        <p:spPr>
          <a:xfrm>
            <a:off x="11855412" y="29245655"/>
            <a:ext cx="9984695" cy="707886"/>
          </a:xfrm>
          <a:prstGeom prst="rect">
            <a:avLst/>
          </a:prstGeom>
          <a:noFill/>
        </p:spPr>
        <p:txBody>
          <a:bodyPr wrap="square">
            <a:spAutoFit/>
          </a:bodyPr>
          <a:lstStyle/>
          <a:p>
            <a:r>
              <a:rPr lang="en-US" sz="2000" b="1" i="1" dirty="0">
                <a:latin typeface="Corbel" panose="020B0503020204020204" pitchFamily="34" charset="0"/>
                <a:cs typeface="Georgia"/>
              </a:rPr>
              <a:t>Figure 5</a:t>
            </a:r>
            <a:r>
              <a:rPr lang="en-US" sz="2000" i="1" dirty="0">
                <a:latin typeface="Corbel" panose="020B0503020204020204" pitchFamily="34" charset="0"/>
                <a:cs typeface="Georgia"/>
              </a:rPr>
              <a:t>.</a:t>
            </a:r>
            <a:r>
              <a:rPr lang="en-US" sz="2000" dirty="0">
                <a:latin typeface="Corbel" panose="020B0503020204020204" pitchFamily="34" charset="0"/>
                <a:cs typeface="Georgia"/>
              </a:rPr>
              <a:t> Example of an incongruent trial in the Rule-Based Card Sorting Task modification in two conditions: asked to select the picture and asked to select the word.</a:t>
            </a:r>
          </a:p>
        </p:txBody>
      </p:sp>
      <p:pic>
        <p:nvPicPr>
          <p:cNvPr id="100" name="Picture 99">
            <a:extLst>
              <a:ext uri="{FF2B5EF4-FFF2-40B4-BE49-F238E27FC236}">
                <a16:creationId xmlns:a16="http://schemas.microsoft.com/office/drawing/2014/main" id="{971F7BF3-3953-7627-63F0-79685F7210CE}"/>
              </a:ext>
            </a:extLst>
          </p:cNvPr>
          <p:cNvPicPr>
            <a:picLocks noChangeAspect="1"/>
          </p:cNvPicPr>
          <p:nvPr/>
        </p:nvPicPr>
        <p:blipFill>
          <a:blip r:embed="rId15"/>
          <a:stretch>
            <a:fillRect/>
          </a:stretch>
        </p:blipFill>
        <p:spPr>
          <a:xfrm>
            <a:off x="24114966" y="19947105"/>
            <a:ext cx="6715562" cy="4105273"/>
          </a:xfrm>
          <a:prstGeom prst="rect">
            <a:avLst/>
          </a:prstGeom>
          <a:ln>
            <a:solidFill>
              <a:schemeClr val="tx1"/>
            </a:solidFill>
          </a:ln>
        </p:spPr>
      </p:pic>
      <p:sp>
        <p:nvSpPr>
          <p:cNvPr id="4" name="TextBox 3">
            <a:extLst>
              <a:ext uri="{FF2B5EF4-FFF2-40B4-BE49-F238E27FC236}">
                <a16:creationId xmlns:a16="http://schemas.microsoft.com/office/drawing/2014/main" id="{4E0351A2-A348-66BE-2353-F9078498AE70}"/>
              </a:ext>
            </a:extLst>
          </p:cNvPr>
          <p:cNvSpPr txBox="1"/>
          <p:nvPr/>
        </p:nvSpPr>
        <p:spPr>
          <a:xfrm>
            <a:off x="1168423" y="15346665"/>
            <a:ext cx="9996265" cy="2323713"/>
          </a:xfrm>
          <a:prstGeom prst="rect">
            <a:avLst/>
          </a:prstGeom>
          <a:noFill/>
        </p:spPr>
        <p:txBody>
          <a:bodyPr wrap="square" rtlCol="0">
            <a:spAutoFit/>
          </a:bodyPr>
          <a:lstStyle/>
          <a:p>
            <a:r>
              <a:rPr lang="en-US" sz="2900" dirty="0">
                <a:latin typeface="Corbel" panose="020B0503020204020204" pitchFamily="34" charset="0"/>
              </a:rPr>
              <a:t>Prior research using responses to conflict trials has established that individuals differ in their reliance on picture vs. word information (“format”).</a:t>
            </a:r>
            <a:r>
              <a:rPr lang="en-US" sz="2800" baseline="30000" dirty="0">
                <a:latin typeface="Corbel" panose="020B0503020204020204" pitchFamily="34" charset="0"/>
              </a:rPr>
              <a:t> 1  </a:t>
            </a:r>
            <a:r>
              <a:rPr lang="en-US" sz="2900" dirty="0">
                <a:latin typeface="Corbel" panose="020B0503020204020204" pitchFamily="34" charset="0"/>
              </a:rPr>
              <a:t>The degree to which the strength of that preference (“format bias”) varies across individuals remains less understood. </a:t>
            </a:r>
          </a:p>
        </p:txBody>
      </p:sp>
      <p:sp>
        <p:nvSpPr>
          <p:cNvPr id="2" name="TextBox 1">
            <a:extLst>
              <a:ext uri="{FF2B5EF4-FFF2-40B4-BE49-F238E27FC236}">
                <a16:creationId xmlns:a16="http://schemas.microsoft.com/office/drawing/2014/main" id="{4036F74F-68D1-8502-64A5-AC0151A79220}"/>
              </a:ext>
            </a:extLst>
          </p:cNvPr>
          <p:cNvSpPr txBox="1"/>
          <p:nvPr/>
        </p:nvSpPr>
        <p:spPr>
          <a:xfrm>
            <a:off x="1184358" y="7470833"/>
            <a:ext cx="9907396" cy="4208844"/>
          </a:xfrm>
          <a:prstGeom prst="rect">
            <a:avLst/>
          </a:prstGeom>
          <a:noFill/>
        </p:spPr>
        <p:txBody>
          <a:bodyPr wrap="square" rtlCol="0">
            <a:spAutoFit/>
          </a:bodyPr>
          <a:lstStyle/>
          <a:p>
            <a:pPr>
              <a:spcBef>
                <a:spcPts val="700"/>
              </a:spcBef>
              <a:spcAft>
                <a:spcPts val="50"/>
              </a:spcAft>
            </a:pPr>
            <a:r>
              <a:rPr lang="en-US" sz="2900" dirty="0">
                <a:latin typeface="Corbel" panose="020B0503020204020204" pitchFamily="34" charset="0"/>
              </a:rPr>
              <a:t>When presented with conflicting visual and verbal information, individuals differ in the information they use to make decisions, and these differences have been related to neural organization for semantic concepts presented in either modality.</a:t>
            </a:r>
            <a:r>
              <a:rPr lang="en-US" sz="3200" baseline="30000" dirty="0">
                <a:latin typeface="Corbel" panose="020B0503020204020204" pitchFamily="34" charset="0"/>
              </a:rPr>
              <a:t> 1</a:t>
            </a:r>
            <a:endParaRPr lang="en-US" sz="2900" dirty="0">
              <a:latin typeface="Corbel" panose="020B0503020204020204" pitchFamily="34" charset="0"/>
            </a:endParaRPr>
          </a:p>
          <a:p>
            <a:pPr>
              <a:spcBef>
                <a:spcPts val="700"/>
              </a:spcBef>
              <a:spcAft>
                <a:spcPts val="100"/>
              </a:spcAft>
            </a:pPr>
            <a:r>
              <a:rPr lang="en-US" sz="2900" dirty="0">
                <a:latin typeface="Corbel" panose="020B0503020204020204" pitchFamily="34" charset="0"/>
              </a:rPr>
              <a:t>In two experiments using the Card Sorting Task (CST) we examine how and why individuals make decisions when presented with conflicting information.</a:t>
            </a:r>
          </a:p>
          <a:p>
            <a:endParaRPr lang="en-US" sz="2900" dirty="0">
              <a:latin typeface="Corbel" panose="020B0503020204020204" pitchFamily="34" charset="0"/>
            </a:endParaRPr>
          </a:p>
          <a:p>
            <a:endParaRPr lang="en-US" sz="2500" dirty="0">
              <a:latin typeface="Corbel" panose="020B0503020204020204" pitchFamily="34" charset="0"/>
            </a:endParaRPr>
          </a:p>
        </p:txBody>
      </p:sp>
      <p:sp>
        <p:nvSpPr>
          <p:cNvPr id="9" name="TextBox 8">
            <a:extLst>
              <a:ext uri="{FF2B5EF4-FFF2-40B4-BE49-F238E27FC236}">
                <a16:creationId xmlns:a16="http://schemas.microsoft.com/office/drawing/2014/main" id="{DE74228F-677B-D302-FF0B-597642EE6ED1}"/>
              </a:ext>
            </a:extLst>
          </p:cNvPr>
          <p:cNvSpPr txBox="1"/>
          <p:nvPr/>
        </p:nvSpPr>
        <p:spPr>
          <a:xfrm>
            <a:off x="22671876" y="15036559"/>
            <a:ext cx="10329271" cy="4662815"/>
          </a:xfrm>
          <a:prstGeom prst="rect">
            <a:avLst/>
          </a:prstGeom>
          <a:noFill/>
        </p:spPr>
        <p:txBody>
          <a:bodyPr wrap="square">
            <a:spAutoFit/>
          </a:bodyPr>
          <a:lstStyle/>
          <a:p>
            <a:r>
              <a:rPr lang="en-US" sz="3000" u="sng" dirty="0">
                <a:latin typeface="Corbel" panose="020B0503020204020204" pitchFamily="34" charset="0"/>
              </a:rPr>
              <a:t>Drift Diffusion Modeling (DDM)</a:t>
            </a:r>
          </a:p>
          <a:p>
            <a:pPr marL="342900" indent="-342900">
              <a:buFont typeface="Arial" panose="020B0604020202020204" pitchFamily="34" charset="0"/>
              <a:buChar char="•"/>
            </a:pPr>
            <a:r>
              <a:rPr lang="en-US" sz="2900" b="0" i="0" u="none" strike="noStrike" dirty="0">
                <a:solidFill>
                  <a:srgbClr val="000000"/>
                </a:solidFill>
                <a:effectLst/>
                <a:latin typeface="Corbel" panose="020B0503020204020204" pitchFamily="34" charset="0"/>
              </a:rPr>
              <a:t>DDM evaluates decision-making as the accumulation of evidence over time toward one of two responses, where the rate of accumulation, decision threshold, and stimulus encoding time account for variation in </a:t>
            </a:r>
            <a:r>
              <a:rPr lang="en-US" sz="2900" dirty="0">
                <a:latin typeface="Corbel" panose="020B0503020204020204" pitchFamily="34" charset="0"/>
              </a:rPr>
              <a:t>RT</a:t>
            </a:r>
            <a:r>
              <a:rPr lang="en-US" sz="2900" b="0" i="0" u="none" strike="noStrike" dirty="0">
                <a:solidFill>
                  <a:srgbClr val="000000"/>
                </a:solidFill>
                <a:effectLst/>
                <a:latin typeface="Corbel" panose="020B0503020204020204" pitchFamily="34" charset="0"/>
              </a:rPr>
              <a:t> and accuracy.</a:t>
            </a:r>
          </a:p>
          <a:p>
            <a:pPr marL="342900" indent="-342900">
              <a:buFont typeface="Arial" panose="020B0604020202020204" pitchFamily="34" charset="0"/>
              <a:buChar char="•"/>
            </a:pPr>
            <a:r>
              <a:rPr lang="en-US" sz="2900" dirty="0">
                <a:latin typeface="Corbel" panose="020B0503020204020204" pitchFamily="34" charset="0"/>
                <a:cs typeface="Arial" panose="020B0604020202020204" pitchFamily="34" charset="0"/>
              </a:rPr>
              <a:t>Analyzed Rule-Based Card Sorting Task (RBCST) data for word and picture format sorting conditions to examine differences in evidence accumulation (“drift rate”) between picture and word format groups and for differences in decision strategies (“decision threshold”) between neural and biased groups.</a:t>
            </a:r>
          </a:p>
        </p:txBody>
      </p:sp>
      <p:sp>
        <p:nvSpPr>
          <p:cNvPr id="13" name="TextBox 12">
            <a:extLst>
              <a:ext uri="{FF2B5EF4-FFF2-40B4-BE49-F238E27FC236}">
                <a16:creationId xmlns:a16="http://schemas.microsoft.com/office/drawing/2014/main" id="{4C92048D-AB14-2706-489D-0D1521454008}"/>
              </a:ext>
            </a:extLst>
          </p:cNvPr>
          <p:cNvSpPr txBox="1"/>
          <p:nvPr/>
        </p:nvSpPr>
        <p:spPr>
          <a:xfrm rot="16200000">
            <a:off x="30212846" y="22680434"/>
            <a:ext cx="1860642" cy="594906"/>
          </a:xfrm>
          <a:prstGeom prst="rect">
            <a:avLst/>
          </a:prstGeom>
          <a:noFill/>
        </p:spPr>
        <p:txBody>
          <a:bodyPr wrap="square" rtlCol="0">
            <a:spAutoFit/>
          </a:bodyPr>
          <a:lstStyle/>
          <a:p>
            <a:r>
              <a:rPr lang="en-US" dirty="0"/>
              <a:t>|_____________|</a:t>
            </a:r>
          </a:p>
          <a:p>
            <a:r>
              <a:rPr lang="en-US" dirty="0"/>
              <a:t>            |</a:t>
            </a:r>
          </a:p>
        </p:txBody>
      </p:sp>
      <p:sp>
        <p:nvSpPr>
          <p:cNvPr id="14" name="Rounded Rectangle 13">
            <a:extLst>
              <a:ext uri="{FF2B5EF4-FFF2-40B4-BE49-F238E27FC236}">
                <a16:creationId xmlns:a16="http://schemas.microsoft.com/office/drawing/2014/main" id="{D28600E8-D4AA-CA89-DA18-B87140D8F5AE}"/>
              </a:ext>
            </a:extLst>
          </p:cNvPr>
          <p:cNvSpPr/>
          <p:nvPr/>
        </p:nvSpPr>
        <p:spPr>
          <a:xfrm>
            <a:off x="31440621" y="22565213"/>
            <a:ext cx="1407062" cy="113145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CE2E7347-76BB-E970-D028-D079F6C44A21}"/>
              </a:ext>
            </a:extLst>
          </p:cNvPr>
          <p:cNvCxnSpPr>
            <a:cxnSpLocks/>
          </p:cNvCxnSpPr>
          <p:nvPr/>
        </p:nvCxnSpPr>
        <p:spPr>
          <a:xfrm>
            <a:off x="23821788" y="22031027"/>
            <a:ext cx="2626904" cy="660054"/>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96B40DE0-2A77-BCAC-885F-5A44EC68F67B}"/>
              </a:ext>
            </a:extLst>
          </p:cNvPr>
          <p:cNvSpPr/>
          <p:nvPr/>
        </p:nvSpPr>
        <p:spPr>
          <a:xfrm>
            <a:off x="22719041" y="21705516"/>
            <a:ext cx="1070185" cy="58845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F450BD9-B1F8-614C-713F-EA0D7B78B3C9}"/>
              </a:ext>
            </a:extLst>
          </p:cNvPr>
          <p:cNvSpPr txBox="1"/>
          <p:nvPr/>
        </p:nvSpPr>
        <p:spPr>
          <a:xfrm>
            <a:off x="31583175" y="22882984"/>
            <a:ext cx="1121953" cy="597087"/>
          </a:xfrm>
          <a:prstGeom prst="rect">
            <a:avLst/>
          </a:prstGeom>
          <a:noFill/>
        </p:spPr>
        <p:txBody>
          <a:bodyPr wrap="square" rtlCol="0">
            <a:spAutoFit/>
          </a:bodyPr>
          <a:lstStyle/>
          <a:p>
            <a:pPr algn="ctr"/>
            <a:r>
              <a:rPr lang="en-US" sz="1640" dirty="0"/>
              <a:t>Decision Threshold</a:t>
            </a:r>
          </a:p>
        </p:txBody>
      </p:sp>
      <p:sp>
        <p:nvSpPr>
          <p:cNvPr id="29" name="TextBox 28">
            <a:extLst>
              <a:ext uri="{FF2B5EF4-FFF2-40B4-BE49-F238E27FC236}">
                <a16:creationId xmlns:a16="http://schemas.microsoft.com/office/drawing/2014/main" id="{EE7646E4-720B-970B-6C26-2895ABC1EADD}"/>
              </a:ext>
            </a:extLst>
          </p:cNvPr>
          <p:cNvSpPr txBox="1"/>
          <p:nvPr/>
        </p:nvSpPr>
        <p:spPr>
          <a:xfrm>
            <a:off x="22754617" y="21830464"/>
            <a:ext cx="996906" cy="338554"/>
          </a:xfrm>
          <a:prstGeom prst="rect">
            <a:avLst/>
          </a:prstGeom>
          <a:noFill/>
        </p:spPr>
        <p:txBody>
          <a:bodyPr wrap="square" rtlCol="0">
            <a:spAutoFit/>
          </a:bodyPr>
          <a:lstStyle/>
          <a:p>
            <a:pPr algn="ctr"/>
            <a:r>
              <a:rPr lang="en-US" sz="1600" dirty="0"/>
              <a:t>Drift</a:t>
            </a:r>
          </a:p>
        </p:txBody>
      </p:sp>
      <p:sp>
        <p:nvSpPr>
          <p:cNvPr id="15" name="TextBox 14">
            <a:extLst>
              <a:ext uri="{FF2B5EF4-FFF2-40B4-BE49-F238E27FC236}">
                <a16:creationId xmlns:a16="http://schemas.microsoft.com/office/drawing/2014/main" id="{29231974-E97A-A148-7BDB-354695CDC8C8}"/>
              </a:ext>
            </a:extLst>
          </p:cNvPr>
          <p:cNvSpPr txBox="1"/>
          <p:nvPr/>
        </p:nvSpPr>
        <p:spPr>
          <a:xfrm>
            <a:off x="933998" y="6533289"/>
            <a:ext cx="9687765" cy="892552"/>
          </a:xfrm>
          <a:prstGeom prst="rect">
            <a:avLst/>
          </a:prstGeom>
          <a:noFill/>
        </p:spPr>
        <p:txBody>
          <a:bodyPr wrap="square" rtlCol="0">
            <a:spAutoFit/>
          </a:bodyPr>
          <a:lstStyle/>
          <a:p>
            <a:pPr algn="ctr"/>
            <a:r>
              <a:rPr lang="en-US" sz="5200" dirty="0">
                <a:latin typeface="Corbel" panose="020B0503020204020204" pitchFamily="34" charset="0"/>
              </a:rPr>
              <a:t>Introduction</a:t>
            </a:r>
          </a:p>
        </p:txBody>
      </p:sp>
      <p:sp>
        <p:nvSpPr>
          <p:cNvPr id="24" name="TextBox 23">
            <a:extLst>
              <a:ext uri="{FF2B5EF4-FFF2-40B4-BE49-F238E27FC236}">
                <a16:creationId xmlns:a16="http://schemas.microsoft.com/office/drawing/2014/main" id="{176F7BE7-A851-5E65-A448-2AF47FDFD918}"/>
              </a:ext>
            </a:extLst>
          </p:cNvPr>
          <p:cNvSpPr txBox="1"/>
          <p:nvPr/>
        </p:nvSpPr>
        <p:spPr>
          <a:xfrm>
            <a:off x="953863" y="21142883"/>
            <a:ext cx="9996265" cy="892552"/>
          </a:xfrm>
          <a:prstGeom prst="rect">
            <a:avLst/>
          </a:prstGeom>
          <a:noFill/>
        </p:spPr>
        <p:txBody>
          <a:bodyPr wrap="square" rtlCol="0">
            <a:spAutoFit/>
          </a:bodyPr>
          <a:lstStyle/>
          <a:p>
            <a:pPr algn="ctr"/>
            <a:r>
              <a:rPr lang="en-US" sz="5200" dirty="0">
                <a:latin typeface="Corbel" panose="020B0503020204020204" pitchFamily="34" charset="0"/>
              </a:rPr>
              <a:t>Methods</a:t>
            </a:r>
          </a:p>
        </p:txBody>
      </p:sp>
      <p:sp>
        <p:nvSpPr>
          <p:cNvPr id="61" name="TextBox 60">
            <a:extLst>
              <a:ext uri="{FF2B5EF4-FFF2-40B4-BE49-F238E27FC236}">
                <a16:creationId xmlns:a16="http://schemas.microsoft.com/office/drawing/2014/main" id="{78ABBD78-B45F-4505-F2CD-874206966463}"/>
              </a:ext>
            </a:extLst>
          </p:cNvPr>
          <p:cNvSpPr txBox="1"/>
          <p:nvPr/>
        </p:nvSpPr>
        <p:spPr>
          <a:xfrm>
            <a:off x="11833815" y="20505932"/>
            <a:ext cx="9723776" cy="2769989"/>
          </a:xfrm>
          <a:prstGeom prst="rect">
            <a:avLst/>
          </a:prstGeom>
          <a:noFill/>
        </p:spPr>
        <p:txBody>
          <a:bodyPr wrap="square">
            <a:spAutoFit/>
          </a:bodyPr>
          <a:lstStyle/>
          <a:p>
            <a:r>
              <a:rPr lang="en-US" sz="2900" u="sng" dirty="0">
                <a:latin typeface="Corbel" panose="020B0503020204020204" pitchFamily="34" charset="0"/>
                <a:cs typeface="Arial" panose="020B0604020202020204" pitchFamily="34" charset="0"/>
              </a:rPr>
              <a:t>Hypotheses</a:t>
            </a:r>
          </a:p>
          <a:p>
            <a:r>
              <a:rPr lang="en-US" sz="2900" b="1" dirty="0">
                <a:latin typeface="Corbel" panose="020B0503020204020204" pitchFamily="34" charset="0"/>
              </a:rPr>
              <a:t>Relative Skill</a:t>
            </a:r>
            <a:r>
              <a:rPr lang="en-US" sz="2900" dirty="0">
                <a:latin typeface="Corbel" panose="020B0503020204020204" pitchFamily="34" charset="0"/>
              </a:rPr>
              <a:t>: Greater skill with one format makes it faster and easier to process, resulting in less competition from the other.</a:t>
            </a:r>
          </a:p>
          <a:p>
            <a:r>
              <a:rPr lang="en-US" sz="2900" b="1" dirty="0">
                <a:latin typeface="Corbel" panose="020B0503020204020204" pitchFamily="34" charset="0"/>
              </a:rPr>
              <a:t>General Decision Strategy</a:t>
            </a:r>
            <a:r>
              <a:rPr lang="en-US" sz="2900" dirty="0">
                <a:latin typeface="Corbel" panose="020B0503020204020204" pitchFamily="34" charset="0"/>
              </a:rPr>
              <a:t>: Lenient or strict decision strategies drive the likelihood that one checks all information before sorting.</a:t>
            </a:r>
            <a:endParaRPr lang="en-US" sz="3000" dirty="0">
              <a:latin typeface="Corbel" panose="020B0503020204020204" pitchFamily="34" charset="0"/>
            </a:endParaRPr>
          </a:p>
        </p:txBody>
      </p:sp>
      <p:sp>
        <p:nvSpPr>
          <p:cNvPr id="462" name="TextBox 461">
            <a:extLst>
              <a:ext uri="{FF2B5EF4-FFF2-40B4-BE49-F238E27FC236}">
                <a16:creationId xmlns:a16="http://schemas.microsoft.com/office/drawing/2014/main" id="{B4280432-2126-5FA6-A421-75C8D4CFB439}"/>
              </a:ext>
            </a:extLst>
          </p:cNvPr>
          <p:cNvSpPr txBox="1"/>
          <p:nvPr/>
        </p:nvSpPr>
        <p:spPr>
          <a:xfrm>
            <a:off x="11960336" y="12170850"/>
            <a:ext cx="9879771" cy="3216265"/>
          </a:xfrm>
          <a:prstGeom prst="rect">
            <a:avLst/>
          </a:prstGeom>
          <a:noFill/>
        </p:spPr>
        <p:txBody>
          <a:bodyPr wrap="square" rtlCol="0">
            <a:spAutoFit/>
          </a:bodyPr>
          <a:lstStyle/>
          <a:p>
            <a:pPr marL="380985" indent="-380985">
              <a:buFont typeface="Arial" panose="020B0604020202020204" pitchFamily="34" charset="0"/>
              <a:buChar char="•"/>
            </a:pPr>
            <a:r>
              <a:rPr lang="en-US" sz="2900" b="1" dirty="0">
                <a:solidFill>
                  <a:schemeClr val="tx1"/>
                </a:solidFill>
                <a:latin typeface="Corbel" panose="020B0503020204020204" pitchFamily="34" charset="0"/>
              </a:rPr>
              <a:t>Main effect </a:t>
            </a:r>
            <a:r>
              <a:rPr lang="en-US" sz="2900" dirty="0">
                <a:solidFill>
                  <a:schemeClr val="tx1"/>
                </a:solidFill>
                <a:latin typeface="Corbel" panose="020B0503020204020204" pitchFamily="34" charset="0"/>
              </a:rPr>
              <a:t>of group (</a:t>
            </a:r>
            <a:r>
              <a:rPr lang="en-US" sz="2900" dirty="0">
                <a:solidFill>
                  <a:srgbClr val="FF0000"/>
                </a:solidFill>
                <a:latin typeface="Corbel" panose="020B0503020204020204" pitchFamily="34" charset="0"/>
              </a:rPr>
              <a:t>biased</a:t>
            </a:r>
            <a:r>
              <a:rPr lang="en-US" sz="2900" dirty="0">
                <a:solidFill>
                  <a:schemeClr val="tx1"/>
                </a:solidFill>
                <a:latin typeface="Corbel" panose="020B0503020204020204" pitchFamily="34" charset="0"/>
              </a:rPr>
              <a:t> group </a:t>
            </a:r>
            <a:r>
              <a:rPr lang="en-US" sz="2900" i="1" dirty="0">
                <a:solidFill>
                  <a:schemeClr val="tx1"/>
                </a:solidFill>
                <a:latin typeface="Corbel" panose="020B0503020204020204" pitchFamily="34" charset="0"/>
              </a:rPr>
              <a:t>faster</a:t>
            </a:r>
            <a:r>
              <a:rPr lang="en-US" sz="2900" dirty="0">
                <a:solidFill>
                  <a:schemeClr val="tx1"/>
                </a:solidFill>
                <a:latin typeface="Corbel" panose="020B0503020204020204" pitchFamily="34" charset="0"/>
              </a:rPr>
              <a:t> overall):</a:t>
            </a:r>
          </a:p>
          <a:p>
            <a:r>
              <a:rPr lang="en-US" sz="2900" i="1" dirty="0">
                <a:latin typeface="Corbel" panose="020B0503020204020204" pitchFamily="34" charset="0"/>
              </a:rPr>
              <a:t>     F </a:t>
            </a:r>
            <a:r>
              <a:rPr lang="en-US" sz="2900" dirty="0">
                <a:latin typeface="Corbel" panose="020B0503020204020204" pitchFamily="34" charset="0"/>
              </a:rPr>
              <a:t>(179)= 26.27, </a:t>
            </a:r>
            <a:r>
              <a:rPr lang="en-US" sz="2900" i="1" dirty="0">
                <a:latin typeface="Corbel" panose="020B0503020204020204" pitchFamily="34" charset="0"/>
              </a:rPr>
              <a:t>p</a:t>
            </a:r>
            <a:r>
              <a:rPr lang="en-US" sz="2900" dirty="0">
                <a:latin typeface="Corbel" panose="020B0503020204020204" pitchFamily="34" charset="0"/>
              </a:rPr>
              <a:t> &lt; 0.001</a:t>
            </a:r>
            <a:endParaRPr lang="en-US" sz="2900" dirty="0">
              <a:solidFill>
                <a:schemeClr val="tx1"/>
              </a:solidFill>
              <a:latin typeface="Corbel" panose="020B0503020204020204" pitchFamily="34" charset="0"/>
            </a:endParaRPr>
          </a:p>
          <a:p>
            <a:pPr marL="380985" indent="-380985">
              <a:buFont typeface="Arial" panose="020B0604020202020204" pitchFamily="34" charset="0"/>
              <a:buChar char="•"/>
            </a:pPr>
            <a:r>
              <a:rPr lang="en-US" sz="2900" b="1" dirty="0">
                <a:solidFill>
                  <a:schemeClr val="tx1"/>
                </a:solidFill>
                <a:latin typeface="Corbel" panose="020B0503020204020204" pitchFamily="34" charset="0"/>
              </a:rPr>
              <a:t>Main effect </a:t>
            </a:r>
            <a:r>
              <a:rPr lang="en-US" sz="2900" dirty="0">
                <a:solidFill>
                  <a:schemeClr val="tx1"/>
                </a:solidFill>
                <a:latin typeface="Corbel" panose="020B0503020204020204" pitchFamily="34" charset="0"/>
              </a:rPr>
              <a:t>of trial type (congruent</a:t>
            </a:r>
            <a:r>
              <a:rPr lang="en-US" sz="2900" b="1" dirty="0">
                <a:solidFill>
                  <a:schemeClr val="tx1"/>
                </a:solidFill>
                <a:latin typeface="Corbel" panose="020B0503020204020204" pitchFamily="34" charset="0"/>
              </a:rPr>
              <a:t> </a:t>
            </a:r>
            <a:r>
              <a:rPr lang="en-US" sz="2900" i="1" dirty="0">
                <a:solidFill>
                  <a:schemeClr val="tx1"/>
                </a:solidFill>
                <a:latin typeface="Corbel" panose="020B0503020204020204" pitchFamily="34" charset="0"/>
              </a:rPr>
              <a:t>faster</a:t>
            </a:r>
            <a:r>
              <a:rPr lang="en-US" sz="2900" b="1" dirty="0">
                <a:solidFill>
                  <a:schemeClr val="tx1"/>
                </a:solidFill>
                <a:latin typeface="Corbel" panose="020B0503020204020204" pitchFamily="34" charset="0"/>
              </a:rPr>
              <a:t> </a:t>
            </a:r>
            <a:r>
              <a:rPr lang="en-US" sz="2900" dirty="0">
                <a:solidFill>
                  <a:schemeClr val="tx1"/>
                </a:solidFill>
                <a:latin typeface="Corbel" panose="020B0503020204020204" pitchFamily="34" charset="0"/>
              </a:rPr>
              <a:t>than incongruent): </a:t>
            </a:r>
            <a:r>
              <a:rPr lang="en-US" sz="2900" i="1" dirty="0">
                <a:latin typeface="Corbel" panose="020B0503020204020204" pitchFamily="34" charset="0"/>
              </a:rPr>
              <a:t>F</a:t>
            </a:r>
            <a:r>
              <a:rPr lang="en-US" sz="2900" dirty="0">
                <a:latin typeface="Corbel" panose="020B0503020204020204" pitchFamily="34" charset="0"/>
              </a:rPr>
              <a:t>(179) = 99.40, </a:t>
            </a:r>
            <a:r>
              <a:rPr lang="en-US" sz="2900" i="1" dirty="0">
                <a:latin typeface="Corbel" panose="020B0503020204020204" pitchFamily="34" charset="0"/>
              </a:rPr>
              <a:t>p</a:t>
            </a:r>
            <a:r>
              <a:rPr lang="en-US" sz="2900" dirty="0">
                <a:latin typeface="Corbel" panose="020B0503020204020204" pitchFamily="34" charset="0"/>
              </a:rPr>
              <a:t> &lt; 0.001</a:t>
            </a:r>
            <a:endParaRPr lang="en-US" sz="2900" dirty="0">
              <a:solidFill>
                <a:schemeClr val="tx1"/>
              </a:solidFill>
              <a:latin typeface="Corbel" panose="020B0503020204020204" pitchFamily="34" charset="0"/>
            </a:endParaRPr>
          </a:p>
          <a:p>
            <a:pPr marL="380985" indent="-380985">
              <a:buFont typeface="Arial" panose="020B0604020202020204" pitchFamily="34" charset="0"/>
              <a:buChar char="•"/>
            </a:pPr>
            <a:r>
              <a:rPr lang="en-US" sz="2900" b="1" dirty="0">
                <a:solidFill>
                  <a:schemeClr val="tx1"/>
                </a:solidFill>
                <a:latin typeface="Corbel" panose="020B0503020204020204" pitchFamily="34" charset="0"/>
              </a:rPr>
              <a:t>Interaction</a:t>
            </a:r>
            <a:r>
              <a:rPr lang="en-US" sz="2900" i="1" dirty="0">
                <a:solidFill>
                  <a:schemeClr val="tx1"/>
                </a:solidFill>
                <a:latin typeface="Corbel" panose="020B0503020204020204" pitchFamily="34" charset="0"/>
              </a:rPr>
              <a:t>: </a:t>
            </a:r>
            <a:r>
              <a:rPr lang="en-US" sz="2900" i="1" dirty="0">
                <a:latin typeface="Corbel" panose="020B0503020204020204" pitchFamily="34" charset="0"/>
              </a:rPr>
              <a:t>F</a:t>
            </a:r>
            <a:r>
              <a:rPr lang="en-US" sz="2900" dirty="0">
                <a:latin typeface="Corbel" panose="020B0503020204020204" pitchFamily="34" charset="0"/>
              </a:rPr>
              <a:t> (179)= 15.16, </a:t>
            </a:r>
            <a:r>
              <a:rPr lang="en-US" sz="2900" i="1" dirty="0">
                <a:latin typeface="Corbel" panose="020B0503020204020204" pitchFamily="34" charset="0"/>
              </a:rPr>
              <a:t>p</a:t>
            </a:r>
            <a:r>
              <a:rPr lang="en-US" sz="2900" dirty="0">
                <a:latin typeface="Corbel" panose="020B0503020204020204" pitchFamily="34" charset="0"/>
              </a:rPr>
              <a:t> &lt; 0.001</a:t>
            </a:r>
            <a:endParaRPr lang="en-US" sz="2900" i="1" dirty="0">
              <a:solidFill>
                <a:schemeClr val="tx1"/>
              </a:solidFill>
              <a:latin typeface="Corbel" panose="020B0503020204020204" pitchFamily="34" charset="0"/>
            </a:endParaRPr>
          </a:p>
          <a:p>
            <a:pPr marL="380985" indent="-380985">
              <a:buFont typeface="Arial" panose="020B0604020202020204" pitchFamily="34" charset="0"/>
              <a:buChar char="•"/>
            </a:pPr>
            <a:r>
              <a:rPr lang="en-US" sz="2900" b="1" dirty="0">
                <a:solidFill>
                  <a:schemeClr val="tx1"/>
                </a:solidFill>
                <a:latin typeface="Corbel" panose="020B0503020204020204" pitchFamily="34" charset="0"/>
              </a:rPr>
              <a:t>Format Bias and Incongruency Effect Correlation</a:t>
            </a:r>
            <a:r>
              <a:rPr lang="en-US" sz="2900" dirty="0">
                <a:solidFill>
                  <a:schemeClr val="tx1"/>
                </a:solidFill>
                <a:latin typeface="Corbel" panose="020B0503020204020204" pitchFamily="34" charset="0"/>
              </a:rPr>
              <a:t>: </a:t>
            </a:r>
          </a:p>
          <a:p>
            <a:r>
              <a:rPr lang="en-US" sz="2900" dirty="0">
                <a:solidFill>
                  <a:schemeClr val="tx1"/>
                </a:solidFill>
                <a:latin typeface="Corbel" panose="020B0503020204020204" pitchFamily="34" charset="0"/>
              </a:rPr>
              <a:t>     </a:t>
            </a:r>
            <a:r>
              <a:rPr lang="en-US" sz="2900" i="1" dirty="0">
                <a:solidFill>
                  <a:schemeClr val="tx1"/>
                </a:solidFill>
                <a:latin typeface="Corbel" panose="020B0503020204020204" pitchFamily="34" charset="0"/>
              </a:rPr>
              <a:t>r</a:t>
            </a:r>
            <a:r>
              <a:rPr lang="en-US" sz="2900" dirty="0">
                <a:solidFill>
                  <a:schemeClr val="tx1"/>
                </a:solidFill>
                <a:latin typeface="Corbel" panose="020B0503020204020204" pitchFamily="34" charset="0"/>
              </a:rPr>
              <a:t>(180)=-0.38, p &lt; 0.001</a:t>
            </a:r>
          </a:p>
        </p:txBody>
      </p:sp>
      <p:grpSp>
        <p:nvGrpSpPr>
          <p:cNvPr id="7" name="Group 6">
            <a:extLst>
              <a:ext uri="{FF2B5EF4-FFF2-40B4-BE49-F238E27FC236}">
                <a16:creationId xmlns:a16="http://schemas.microsoft.com/office/drawing/2014/main" id="{0E3227D2-7B18-123E-7792-FD7F08991915}"/>
              </a:ext>
            </a:extLst>
          </p:cNvPr>
          <p:cNvGrpSpPr/>
          <p:nvPr/>
        </p:nvGrpSpPr>
        <p:grpSpPr>
          <a:xfrm>
            <a:off x="14144467" y="25782807"/>
            <a:ext cx="5168720" cy="3357554"/>
            <a:chOff x="4838906" y="13493578"/>
            <a:chExt cx="7040880" cy="4772999"/>
          </a:xfrm>
        </p:grpSpPr>
        <p:sp>
          <p:nvSpPr>
            <p:cNvPr id="10" name="Rectangle 9">
              <a:extLst>
                <a:ext uri="{FF2B5EF4-FFF2-40B4-BE49-F238E27FC236}">
                  <a16:creationId xmlns:a16="http://schemas.microsoft.com/office/drawing/2014/main" id="{140F045B-FE9D-3F18-375B-7B022DD60BAC}"/>
                </a:ext>
              </a:extLst>
            </p:cNvPr>
            <p:cNvSpPr/>
            <p:nvPr/>
          </p:nvSpPr>
          <p:spPr>
            <a:xfrm>
              <a:off x="4838906" y="13493578"/>
              <a:ext cx="7040880" cy="477299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blue background with a white symbol on it&#10;&#10;Description automatically generated">
              <a:extLst>
                <a:ext uri="{FF2B5EF4-FFF2-40B4-BE49-F238E27FC236}">
                  <a16:creationId xmlns:a16="http://schemas.microsoft.com/office/drawing/2014/main" id="{239684B2-9335-82E9-7365-19703EE7CE40}"/>
                </a:ext>
              </a:extLst>
            </p:cNvPr>
            <p:cNvPicPr>
              <a:picLocks noChangeAspect="1"/>
            </p:cNvPicPr>
            <p:nvPr/>
          </p:nvPicPr>
          <p:blipFill>
            <a:blip r:embed="rId16"/>
            <a:stretch>
              <a:fillRect/>
            </a:stretch>
          </p:blipFill>
          <p:spPr>
            <a:xfrm>
              <a:off x="8649884" y="13907876"/>
              <a:ext cx="2720515" cy="3169161"/>
            </a:xfrm>
            <a:prstGeom prst="rect">
              <a:avLst/>
            </a:prstGeom>
          </p:spPr>
        </p:pic>
        <p:pic>
          <p:nvPicPr>
            <p:cNvPr id="32" name="Picture 31" descr="A black square with a white letter&#10;&#10;Description automatically generated">
              <a:extLst>
                <a:ext uri="{FF2B5EF4-FFF2-40B4-BE49-F238E27FC236}">
                  <a16:creationId xmlns:a16="http://schemas.microsoft.com/office/drawing/2014/main" id="{179D481E-C524-DBE4-19A4-3D52FE2381DA}"/>
                </a:ext>
              </a:extLst>
            </p:cNvPr>
            <p:cNvPicPr>
              <a:picLocks noChangeAspect="1"/>
            </p:cNvPicPr>
            <p:nvPr/>
          </p:nvPicPr>
          <p:blipFill>
            <a:blip r:embed="rId17"/>
            <a:stretch>
              <a:fillRect/>
            </a:stretch>
          </p:blipFill>
          <p:spPr>
            <a:xfrm>
              <a:off x="9727925" y="17328944"/>
              <a:ext cx="558800" cy="533400"/>
            </a:xfrm>
            <a:prstGeom prst="rect">
              <a:avLst/>
            </a:prstGeom>
          </p:spPr>
        </p:pic>
        <p:pic>
          <p:nvPicPr>
            <p:cNvPr id="37" name="Picture 36" descr="A black square with white letter j&#10;&#10;Description automatically generated">
              <a:extLst>
                <a:ext uri="{FF2B5EF4-FFF2-40B4-BE49-F238E27FC236}">
                  <a16:creationId xmlns:a16="http://schemas.microsoft.com/office/drawing/2014/main" id="{8236AE03-3BD7-772B-BA2F-B23F0D858FD3}"/>
                </a:ext>
              </a:extLst>
            </p:cNvPr>
            <p:cNvPicPr>
              <a:picLocks noChangeAspect="1"/>
            </p:cNvPicPr>
            <p:nvPr/>
          </p:nvPicPr>
          <p:blipFill>
            <a:blip r:embed="rId18"/>
            <a:stretch>
              <a:fillRect/>
            </a:stretch>
          </p:blipFill>
          <p:spPr>
            <a:xfrm>
              <a:off x="6427415" y="17328503"/>
              <a:ext cx="558800" cy="533400"/>
            </a:xfrm>
            <a:prstGeom prst="rect">
              <a:avLst/>
            </a:prstGeom>
          </p:spPr>
        </p:pic>
      </p:grpSp>
      <p:sp>
        <p:nvSpPr>
          <p:cNvPr id="467" name="Right Arrow 466">
            <a:extLst>
              <a:ext uri="{FF2B5EF4-FFF2-40B4-BE49-F238E27FC236}">
                <a16:creationId xmlns:a16="http://schemas.microsoft.com/office/drawing/2014/main" id="{B5E5D008-BC58-2E86-81C2-49D9D05ADC07}"/>
              </a:ext>
            </a:extLst>
          </p:cNvPr>
          <p:cNvSpPr/>
          <p:nvPr/>
        </p:nvSpPr>
        <p:spPr>
          <a:xfrm rot="10800000">
            <a:off x="18628671" y="26570184"/>
            <a:ext cx="1156621" cy="43038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ounded Rectangle 467">
            <a:extLst>
              <a:ext uri="{FF2B5EF4-FFF2-40B4-BE49-F238E27FC236}">
                <a16:creationId xmlns:a16="http://schemas.microsoft.com/office/drawing/2014/main" id="{06A27450-940D-FBE7-A988-4B118F7440B7}"/>
              </a:ext>
            </a:extLst>
          </p:cNvPr>
          <p:cNvSpPr/>
          <p:nvPr/>
        </p:nvSpPr>
        <p:spPr>
          <a:xfrm>
            <a:off x="11950759" y="27304781"/>
            <a:ext cx="1552752" cy="1004740"/>
          </a:xfrm>
          <a:prstGeom prst="roundRect">
            <a:avLst/>
          </a:prstGeom>
          <a:solidFill>
            <a:srgbClr val="FF0000">
              <a:alpha val="353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tx1"/>
                </a:solidFill>
              </a:rPr>
              <a:t>Picture Block Correct Answer</a:t>
            </a:r>
          </a:p>
        </p:txBody>
      </p:sp>
      <p:sp>
        <p:nvSpPr>
          <p:cNvPr id="469" name="Rounded Rectangle 468">
            <a:extLst>
              <a:ext uri="{FF2B5EF4-FFF2-40B4-BE49-F238E27FC236}">
                <a16:creationId xmlns:a16="http://schemas.microsoft.com/office/drawing/2014/main" id="{751194B2-E2E4-FCF2-7FED-6645F50AA5E7}"/>
              </a:ext>
            </a:extLst>
          </p:cNvPr>
          <p:cNvSpPr/>
          <p:nvPr/>
        </p:nvSpPr>
        <p:spPr>
          <a:xfrm>
            <a:off x="19954143" y="26299941"/>
            <a:ext cx="1595238" cy="1004740"/>
          </a:xfrm>
          <a:prstGeom prst="roundRect">
            <a:avLst/>
          </a:prstGeom>
          <a:solidFill>
            <a:srgbClr val="FF0000">
              <a:alpha val="353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tx1"/>
                </a:solidFill>
              </a:rPr>
              <a:t>Word Block Correct Answer</a:t>
            </a:r>
          </a:p>
        </p:txBody>
      </p:sp>
      <p:sp>
        <p:nvSpPr>
          <p:cNvPr id="485" name="TextBox 484">
            <a:extLst>
              <a:ext uri="{FF2B5EF4-FFF2-40B4-BE49-F238E27FC236}">
                <a16:creationId xmlns:a16="http://schemas.microsoft.com/office/drawing/2014/main" id="{1475B25C-813E-C6F1-E8BB-0C224ED13C55}"/>
              </a:ext>
            </a:extLst>
          </p:cNvPr>
          <p:cNvSpPr txBox="1"/>
          <p:nvPr/>
        </p:nvSpPr>
        <p:spPr>
          <a:xfrm>
            <a:off x="22608452" y="24126706"/>
            <a:ext cx="10144010" cy="606320"/>
          </a:xfrm>
          <a:prstGeom prst="rect">
            <a:avLst/>
          </a:prstGeom>
          <a:noFill/>
        </p:spPr>
        <p:txBody>
          <a:bodyPr wrap="square">
            <a:spAutoFit/>
          </a:bodyPr>
          <a:lstStyle/>
          <a:p>
            <a:r>
              <a:rPr lang="en-US" sz="1670" b="1" i="1" dirty="0">
                <a:latin typeface="Corbel" panose="020B0503020204020204" pitchFamily="34" charset="0"/>
                <a:cs typeface="Georgia"/>
              </a:rPr>
              <a:t>Figure 8</a:t>
            </a:r>
            <a:r>
              <a:rPr lang="en-US" sz="1670" i="1" dirty="0">
                <a:latin typeface="Corbel" panose="020B0503020204020204" pitchFamily="34" charset="0"/>
                <a:cs typeface="Georgia"/>
              </a:rPr>
              <a:t>.</a:t>
            </a:r>
            <a:r>
              <a:rPr lang="en-US" sz="1670" dirty="0">
                <a:latin typeface="Corbel" panose="020B0503020204020204" pitchFamily="34" charset="0"/>
                <a:cs typeface="Georgia"/>
              </a:rPr>
              <a:t> A) Schematic of reaction time process, B) Theoretical depiction of drift rate reaching a decision threshold (adapted from 3).</a:t>
            </a:r>
          </a:p>
        </p:txBody>
      </p:sp>
      <p:sp>
        <p:nvSpPr>
          <p:cNvPr id="487" name="TextBox 486">
            <a:extLst>
              <a:ext uri="{FF2B5EF4-FFF2-40B4-BE49-F238E27FC236}">
                <a16:creationId xmlns:a16="http://schemas.microsoft.com/office/drawing/2014/main" id="{5FC1D05F-F7F8-BD63-7EC2-1694B2CAE28B}"/>
              </a:ext>
            </a:extLst>
          </p:cNvPr>
          <p:cNvSpPr txBox="1"/>
          <p:nvPr/>
        </p:nvSpPr>
        <p:spPr>
          <a:xfrm>
            <a:off x="22754061" y="11024319"/>
            <a:ext cx="10144010" cy="863313"/>
          </a:xfrm>
          <a:prstGeom prst="rect">
            <a:avLst/>
          </a:prstGeom>
          <a:noFill/>
        </p:spPr>
        <p:txBody>
          <a:bodyPr wrap="square">
            <a:spAutoFit/>
          </a:bodyPr>
          <a:lstStyle/>
          <a:p>
            <a:r>
              <a:rPr lang="en-US" sz="1670" b="1" i="1" dirty="0">
                <a:latin typeface="Corbel" panose="020B0503020204020204" pitchFamily="34" charset="0"/>
                <a:cs typeface="Georgia"/>
              </a:rPr>
              <a:t>Figure 6 (Left). </a:t>
            </a:r>
            <a:r>
              <a:rPr lang="en-US" sz="1670" i="1" dirty="0">
                <a:latin typeface="Corbel" panose="020B0503020204020204" pitchFamily="34" charset="0"/>
                <a:cs typeface="Georgia"/>
              </a:rPr>
              <a:t>Shows participant distribution of picture vs. word selection during the CST.</a:t>
            </a:r>
          </a:p>
          <a:p>
            <a:r>
              <a:rPr lang="en-US" sz="1670" b="1" i="1" dirty="0">
                <a:latin typeface="Corbel" panose="020B0503020204020204" pitchFamily="34" charset="0"/>
                <a:cs typeface="Georgia"/>
              </a:rPr>
              <a:t>Figure 7 (Right). </a:t>
            </a:r>
            <a:r>
              <a:rPr lang="en-US" sz="1670" i="1" dirty="0">
                <a:latin typeface="Corbel" panose="020B0503020204020204" pitchFamily="34" charset="0"/>
                <a:cs typeface="Georgia"/>
              </a:rPr>
              <a:t>Bar graph comparing biased and neutral group mean response times during congruent and incongruent trials in the CST.</a:t>
            </a:r>
            <a:endParaRPr lang="en-US" sz="1670" dirty="0">
              <a:latin typeface="Corbel" panose="020B0503020204020204" pitchFamily="34" charset="0"/>
              <a:cs typeface="Georgia"/>
            </a:endParaRPr>
          </a:p>
        </p:txBody>
      </p:sp>
      <p:sp>
        <p:nvSpPr>
          <p:cNvPr id="489" name="TextBox 488">
            <a:extLst>
              <a:ext uri="{FF2B5EF4-FFF2-40B4-BE49-F238E27FC236}">
                <a16:creationId xmlns:a16="http://schemas.microsoft.com/office/drawing/2014/main" id="{0FB6FDEF-A5D2-2B18-6944-BCF006132BD1}"/>
              </a:ext>
            </a:extLst>
          </p:cNvPr>
          <p:cNvSpPr txBox="1"/>
          <p:nvPr/>
        </p:nvSpPr>
        <p:spPr>
          <a:xfrm>
            <a:off x="22672325" y="29087150"/>
            <a:ext cx="10329271" cy="606320"/>
          </a:xfrm>
          <a:prstGeom prst="rect">
            <a:avLst/>
          </a:prstGeom>
          <a:noFill/>
        </p:spPr>
        <p:txBody>
          <a:bodyPr wrap="square">
            <a:spAutoFit/>
          </a:bodyPr>
          <a:lstStyle/>
          <a:p>
            <a:r>
              <a:rPr lang="en-US" sz="1670" b="1" i="1" dirty="0">
                <a:latin typeface="Corbel" panose="020B0503020204020204" pitchFamily="34" charset="0"/>
                <a:cs typeface="Georgia"/>
              </a:rPr>
              <a:t>Figure 9 (Left). </a:t>
            </a:r>
            <a:r>
              <a:rPr lang="en-US" sz="1670" i="1" dirty="0">
                <a:latin typeface="Corbel" panose="020B0503020204020204" pitchFamily="34" charset="0"/>
                <a:cs typeface="Georgia"/>
              </a:rPr>
              <a:t>Compares word and picture biased group response times in RBCST.</a:t>
            </a:r>
          </a:p>
          <a:p>
            <a:r>
              <a:rPr lang="en-US" sz="1670" b="1" i="1" dirty="0">
                <a:latin typeface="Corbel" panose="020B0503020204020204" pitchFamily="34" charset="0"/>
                <a:cs typeface="Georgia"/>
              </a:rPr>
              <a:t>Figure 10 (Right). </a:t>
            </a:r>
            <a:r>
              <a:rPr lang="en-US" sz="1670" i="1" dirty="0">
                <a:latin typeface="Corbel" panose="020B0503020204020204" pitchFamily="34" charset="0"/>
                <a:cs typeface="Georgia"/>
              </a:rPr>
              <a:t>Compares drift rates for word and picture biased groups in RBCST.</a:t>
            </a:r>
          </a:p>
        </p:txBody>
      </p:sp>
      <p:sp>
        <p:nvSpPr>
          <p:cNvPr id="490" name="TextBox 489">
            <a:extLst>
              <a:ext uri="{FF2B5EF4-FFF2-40B4-BE49-F238E27FC236}">
                <a16:creationId xmlns:a16="http://schemas.microsoft.com/office/drawing/2014/main" id="{1092AFBC-44D8-B003-A40E-75E678E1F01A}"/>
              </a:ext>
            </a:extLst>
          </p:cNvPr>
          <p:cNvSpPr txBox="1"/>
          <p:nvPr/>
        </p:nvSpPr>
        <p:spPr>
          <a:xfrm>
            <a:off x="22608452" y="12038758"/>
            <a:ext cx="10232267" cy="2769989"/>
          </a:xfrm>
          <a:prstGeom prst="rect">
            <a:avLst/>
          </a:prstGeom>
          <a:noFill/>
        </p:spPr>
        <p:txBody>
          <a:bodyPr wrap="square">
            <a:spAutoFit/>
          </a:bodyPr>
          <a:lstStyle/>
          <a:p>
            <a:pPr marL="380985" indent="-380985">
              <a:spcBef>
                <a:spcPts val="100"/>
              </a:spcBef>
              <a:buFont typeface="Arial" panose="020B0604020202020204" pitchFamily="34" charset="0"/>
              <a:buChar char="•"/>
            </a:pPr>
            <a:r>
              <a:rPr lang="en-US" sz="2900" dirty="0">
                <a:latin typeface="Corbel" panose="020B0503020204020204" pitchFamily="34" charset="0"/>
              </a:rPr>
              <a:t>With only two blocks of CST and fewer participants, we replicate the finding that biased responders are less sensitive to conflict (</a:t>
            </a:r>
            <a:r>
              <a:rPr lang="en-US" sz="2900" b="1" dirty="0">
                <a:latin typeface="Corbel" panose="020B0503020204020204" pitchFamily="34" charset="0"/>
              </a:rPr>
              <a:t>interaction</a:t>
            </a:r>
            <a:r>
              <a:rPr lang="en-US" sz="2900" dirty="0">
                <a:latin typeface="Corbel" panose="020B0503020204020204" pitchFamily="34" charset="0"/>
              </a:rPr>
              <a:t>:</a:t>
            </a:r>
            <a:r>
              <a:rPr lang="en-US" sz="2900" i="1" dirty="0">
                <a:latin typeface="Corbel" panose="020B0503020204020204" pitchFamily="34" charset="0"/>
              </a:rPr>
              <a:t> F</a:t>
            </a:r>
            <a:r>
              <a:rPr lang="en-US" sz="2900" dirty="0">
                <a:latin typeface="Corbel" panose="020B0503020204020204" pitchFamily="34" charset="0"/>
              </a:rPr>
              <a:t>(43) = 5.83, </a:t>
            </a:r>
            <a:r>
              <a:rPr lang="en-US" sz="2900" i="1" dirty="0">
                <a:latin typeface="Corbel" panose="020B0503020204020204" pitchFamily="34" charset="0"/>
              </a:rPr>
              <a:t>p</a:t>
            </a:r>
            <a:r>
              <a:rPr lang="en-US" sz="2900" dirty="0">
                <a:latin typeface="Corbel" panose="020B0503020204020204" pitchFamily="34" charset="0"/>
              </a:rPr>
              <a:t> = 0.02) and observe a trend toward them being faster than neutral attenders (</a:t>
            </a:r>
            <a:r>
              <a:rPr lang="en-US" sz="2900" b="1" dirty="0">
                <a:latin typeface="Corbel" panose="020B0503020204020204" pitchFamily="34" charset="0"/>
              </a:rPr>
              <a:t>trending</a:t>
            </a:r>
            <a:r>
              <a:rPr lang="en-US" sz="2900" dirty="0">
                <a:latin typeface="Corbel" panose="020B0503020204020204" pitchFamily="34" charset="0"/>
              </a:rPr>
              <a:t> </a:t>
            </a:r>
            <a:r>
              <a:rPr lang="en-US" sz="2900" b="1" dirty="0">
                <a:latin typeface="Corbel" panose="020B0503020204020204" pitchFamily="34" charset="0"/>
              </a:rPr>
              <a:t>main effect</a:t>
            </a:r>
            <a:r>
              <a:rPr lang="en-US" sz="2900" dirty="0">
                <a:latin typeface="Corbel" panose="020B0503020204020204" pitchFamily="34" charset="0"/>
              </a:rPr>
              <a:t> of group: </a:t>
            </a:r>
            <a:r>
              <a:rPr lang="en-US" sz="2900" i="1" dirty="0">
                <a:latin typeface="Corbel" panose="020B0503020204020204" pitchFamily="34" charset="0"/>
              </a:rPr>
              <a:t>F</a:t>
            </a:r>
            <a:r>
              <a:rPr lang="en-US" sz="2900" dirty="0">
                <a:latin typeface="Corbel" panose="020B0503020204020204" pitchFamily="34" charset="0"/>
              </a:rPr>
              <a:t> (43)=8.90 , </a:t>
            </a:r>
            <a:r>
              <a:rPr lang="en-US" sz="2900" i="1" dirty="0">
                <a:latin typeface="Corbel" panose="020B0503020204020204" pitchFamily="34" charset="0"/>
              </a:rPr>
              <a:t>p</a:t>
            </a:r>
            <a:r>
              <a:rPr lang="en-US" sz="2900" dirty="0">
                <a:latin typeface="Corbel" panose="020B0503020204020204" pitchFamily="34" charset="0"/>
              </a:rPr>
              <a:t> =0.072). We also observed a </a:t>
            </a:r>
            <a:r>
              <a:rPr lang="en-US" sz="2900" b="1" dirty="0">
                <a:latin typeface="Corbel" panose="020B0503020204020204" pitchFamily="34" charset="0"/>
              </a:rPr>
              <a:t>main effect </a:t>
            </a:r>
            <a:r>
              <a:rPr lang="en-US" sz="2900" dirty="0">
                <a:latin typeface="Corbel" panose="020B0503020204020204" pitchFamily="34" charset="0"/>
              </a:rPr>
              <a:t>of congruency</a:t>
            </a:r>
            <a:r>
              <a:rPr lang="en-US" sz="2900" dirty="0">
                <a:solidFill>
                  <a:srgbClr val="FF0000"/>
                </a:solidFill>
                <a:latin typeface="Corbel" panose="020B0503020204020204" pitchFamily="34" charset="0"/>
              </a:rPr>
              <a:t> </a:t>
            </a:r>
            <a:r>
              <a:rPr lang="en-US" sz="2900" i="1" dirty="0">
                <a:latin typeface="Corbel" panose="020B0503020204020204" pitchFamily="34" charset="0"/>
              </a:rPr>
              <a:t>F </a:t>
            </a:r>
            <a:r>
              <a:rPr lang="en-US" sz="2900" dirty="0">
                <a:latin typeface="Corbel" panose="020B0503020204020204" pitchFamily="34" charset="0"/>
              </a:rPr>
              <a:t>(43)=3.40 , </a:t>
            </a:r>
            <a:r>
              <a:rPr lang="en-US" sz="2900" i="1" dirty="0">
                <a:latin typeface="Corbel" panose="020B0503020204020204" pitchFamily="34" charset="0"/>
              </a:rPr>
              <a:t>p</a:t>
            </a:r>
            <a:r>
              <a:rPr lang="en-US" sz="2900" dirty="0">
                <a:latin typeface="Corbel" panose="020B0503020204020204" pitchFamily="34" charset="0"/>
              </a:rPr>
              <a:t> =0.005</a:t>
            </a:r>
            <a:r>
              <a:rPr lang="en-US" sz="2900" i="1" dirty="0">
                <a:latin typeface="Corbel" panose="020B0503020204020204" pitchFamily="34" charset="0"/>
              </a:rPr>
              <a:t>.</a:t>
            </a:r>
          </a:p>
        </p:txBody>
      </p:sp>
      <p:sp>
        <p:nvSpPr>
          <p:cNvPr id="495" name="TextBox 494">
            <a:extLst>
              <a:ext uri="{FF2B5EF4-FFF2-40B4-BE49-F238E27FC236}">
                <a16:creationId xmlns:a16="http://schemas.microsoft.com/office/drawing/2014/main" id="{6426D3FC-463D-1BC8-466F-F7D8DB499D82}"/>
              </a:ext>
            </a:extLst>
          </p:cNvPr>
          <p:cNvSpPr txBox="1"/>
          <p:nvPr/>
        </p:nvSpPr>
        <p:spPr>
          <a:xfrm>
            <a:off x="33812990" y="9980558"/>
            <a:ext cx="10352301" cy="538609"/>
          </a:xfrm>
          <a:prstGeom prst="rect">
            <a:avLst/>
          </a:prstGeom>
          <a:noFill/>
        </p:spPr>
        <p:txBody>
          <a:bodyPr wrap="square">
            <a:spAutoFit/>
          </a:bodyPr>
          <a:lstStyle/>
          <a:p>
            <a:pPr>
              <a:spcBef>
                <a:spcPts val="1000"/>
              </a:spcBef>
            </a:pPr>
            <a:r>
              <a:rPr lang="en-US" sz="2900" u="sng" dirty="0">
                <a:latin typeface="Corbel" panose="020B0503020204020204" pitchFamily="34" charset="0"/>
              </a:rPr>
              <a:t>Drift Rate ANOVA</a:t>
            </a:r>
          </a:p>
        </p:txBody>
      </p:sp>
      <p:sp>
        <p:nvSpPr>
          <p:cNvPr id="496" name="TextBox 495">
            <a:extLst>
              <a:ext uri="{FF2B5EF4-FFF2-40B4-BE49-F238E27FC236}">
                <a16:creationId xmlns:a16="http://schemas.microsoft.com/office/drawing/2014/main" id="{7B7B9F76-74B2-43F4-371D-8E5B476B87DB}"/>
              </a:ext>
            </a:extLst>
          </p:cNvPr>
          <p:cNvSpPr txBox="1"/>
          <p:nvPr/>
        </p:nvSpPr>
        <p:spPr>
          <a:xfrm>
            <a:off x="33821135" y="6886511"/>
            <a:ext cx="11442196" cy="538609"/>
          </a:xfrm>
          <a:prstGeom prst="rect">
            <a:avLst/>
          </a:prstGeom>
          <a:noFill/>
        </p:spPr>
        <p:txBody>
          <a:bodyPr wrap="square">
            <a:spAutoFit/>
          </a:bodyPr>
          <a:lstStyle/>
          <a:p>
            <a:pPr>
              <a:spcBef>
                <a:spcPts val="1000"/>
              </a:spcBef>
            </a:pPr>
            <a:r>
              <a:rPr lang="en-US" sz="2900" u="sng" dirty="0">
                <a:latin typeface="Corbel" panose="020B0503020204020204" pitchFamily="34" charset="0"/>
              </a:rPr>
              <a:t>Response Time ANOVA</a:t>
            </a:r>
          </a:p>
        </p:txBody>
      </p:sp>
      <p:sp>
        <p:nvSpPr>
          <p:cNvPr id="497" name="TextBox 496">
            <a:extLst>
              <a:ext uri="{FF2B5EF4-FFF2-40B4-BE49-F238E27FC236}">
                <a16:creationId xmlns:a16="http://schemas.microsoft.com/office/drawing/2014/main" id="{BB69320D-45B0-F869-ED5B-B7C7D7C5ACD3}"/>
              </a:ext>
            </a:extLst>
          </p:cNvPr>
          <p:cNvSpPr txBox="1"/>
          <p:nvPr/>
        </p:nvSpPr>
        <p:spPr>
          <a:xfrm>
            <a:off x="33874408" y="10437896"/>
            <a:ext cx="9423431" cy="2769989"/>
          </a:xfrm>
          <a:prstGeom prst="rect">
            <a:avLst/>
          </a:prstGeom>
          <a:noFill/>
        </p:spPr>
        <p:txBody>
          <a:bodyPr wrap="square">
            <a:spAutoFit/>
          </a:bodyPr>
          <a:lstStyle/>
          <a:p>
            <a:pPr marL="457200" indent="-457200">
              <a:buFont typeface="Arial" panose="020B0604020202020204" pitchFamily="34" charset="0"/>
              <a:buChar char="•"/>
            </a:pPr>
            <a:r>
              <a:rPr lang="en-US" sz="2900" i="1" dirty="0">
                <a:latin typeface="Corbel" panose="020B0503020204020204" pitchFamily="34" charset="0"/>
              </a:rPr>
              <a:t>Faster</a:t>
            </a:r>
            <a:r>
              <a:rPr lang="en-US" sz="2900" dirty="0">
                <a:latin typeface="Corbel" panose="020B0503020204020204" pitchFamily="34" charset="0"/>
              </a:rPr>
              <a:t> drift rates in word-sort blocks </a:t>
            </a:r>
          </a:p>
          <a:p>
            <a:r>
              <a:rPr lang="en-US" sz="2900" dirty="0">
                <a:latin typeface="Corbel" panose="020B0503020204020204" pitchFamily="34" charset="0"/>
              </a:rPr>
              <a:t>      (</a:t>
            </a:r>
            <a:r>
              <a:rPr lang="en-US" sz="2900" b="1" dirty="0">
                <a:latin typeface="Corbel" panose="020B0503020204020204" pitchFamily="34" charset="0"/>
              </a:rPr>
              <a:t>Main effect </a:t>
            </a:r>
            <a:r>
              <a:rPr lang="en-US" sz="2900" dirty="0">
                <a:latin typeface="Corbel" panose="020B0503020204020204" pitchFamily="34" charset="0"/>
              </a:rPr>
              <a:t>of block type: </a:t>
            </a:r>
            <a:r>
              <a:rPr lang="en-US" sz="2900" i="1" dirty="0">
                <a:latin typeface="Corbel" panose="020B0503020204020204" pitchFamily="34" charset="0"/>
              </a:rPr>
              <a:t>F</a:t>
            </a:r>
            <a:r>
              <a:rPr lang="en-US" sz="2900" dirty="0">
                <a:latin typeface="Corbel" panose="020B0503020204020204" pitchFamily="34" charset="0"/>
              </a:rPr>
              <a:t>(1,26)= 9.20, </a:t>
            </a:r>
            <a:r>
              <a:rPr lang="en-US" sz="2900" i="1" dirty="0">
                <a:latin typeface="Corbel" panose="020B0503020204020204" pitchFamily="34" charset="0"/>
              </a:rPr>
              <a:t>p</a:t>
            </a:r>
            <a:r>
              <a:rPr lang="en-US" sz="2900" dirty="0">
                <a:latin typeface="Corbel" panose="020B0503020204020204" pitchFamily="34" charset="0"/>
              </a:rPr>
              <a:t> &lt; 0.001 )</a:t>
            </a:r>
          </a:p>
          <a:p>
            <a:pPr marL="457200" indent="-457200">
              <a:buFont typeface="Arial" panose="020B0604020202020204" pitchFamily="34" charset="0"/>
              <a:buChar char="•"/>
            </a:pPr>
            <a:r>
              <a:rPr lang="en-US" sz="2900" i="1" dirty="0">
                <a:latin typeface="Corbel" panose="020B0503020204020204" pitchFamily="34" charset="0"/>
              </a:rPr>
              <a:t>Trend toward faster </a:t>
            </a:r>
            <a:r>
              <a:rPr lang="en-US" sz="2900" dirty="0">
                <a:latin typeface="Corbel" panose="020B0503020204020204" pitchFamily="34" charset="0"/>
              </a:rPr>
              <a:t>drift rates in picture bias group    (</a:t>
            </a:r>
            <a:r>
              <a:rPr lang="en-US" sz="2900" b="1" dirty="0">
                <a:latin typeface="Corbel" panose="020B0503020204020204" pitchFamily="34" charset="0"/>
              </a:rPr>
              <a:t>Trending main effect </a:t>
            </a:r>
            <a:r>
              <a:rPr lang="en-US" sz="2900" dirty="0">
                <a:latin typeface="Corbel" panose="020B0503020204020204" pitchFamily="34" charset="0"/>
              </a:rPr>
              <a:t>of</a:t>
            </a:r>
            <a:r>
              <a:rPr lang="en-US" sz="2900" b="1" dirty="0">
                <a:latin typeface="Corbel" panose="020B0503020204020204" pitchFamily="34" charset="0"/>
              </a:rPr>
              <a:t> </a:t>
            </a:r>
            <a:r>
              <a:rPr lang="en-US" sz="2900" dirty="0">
                <a:latin typeface="Corbel" panose="020B0503020204020204" pitchFamily="34" charset="0"/>
              </a:rPr>
              <a:t>format bias: </a:t>
            </a:r>
            <a:r>
              <a:rPr lang="en-US" sz="2900" i="1" dirty="0">
                <a:latin typeface="Corbel" panose="020B0503020204020204" pitchFamily="34" charset="0"/>
              </a:rPr>
              <a:t>F</a:t>
            </a:r>
            <a:r>
              <a:rPr lang="en-US" sz="2900" dirty="0">
                <a:latin typeface="Corbel" panose="020B0503020204020204" pitchFamily="34" charset="0"/>
              </a:rPr>
              <a:t>(1, 26)=2.965, </a:t>
            </a:r>
            <a:r>
              <a:rPr lang="en-US" sz="2900" i="1" dirty="0">
                <a:latin typeface="Corbel" panose="020B0503020204020204" pitchFamily="34" charset="0"/>
              </a:rPr>
              <a:t>p</a:t>
            </a:r>
            <a:r>
              <a:rPr lang="en-US" sz="2900" dirty="0">
                <a:latin typeface="Corbel" panose="020B0503020204020204" pitchFamily="34" charset="0"/>
              </a:rPr>
              <a:t>=0.097)</a:t>
            </a:r>
          </a:p>
          <a:p>
            <a:pPr marL="457200" indent="-457200">
              <a:buFont typeface="Arial" panose="020B0604020202020204" pitchFamily="34" charset="0"/>
              <a:buChar char="•"/>
            </a:pPr>
            <a:r>
              <a:rPr lang="en-US" sz="2900" b="1" dirty="0">
                <a:latin typeface="Corbel" panose="020B0503020204020204" pitchFamily="34" charset="0"/>
              </a:rPr>
              <a:t>No interaction </a:t>
            </a:r>
            <a:r>
              <a:rPr lang="en-US" sz="2900" dirty="0">
                <a:latin typeface="Corbel" panose="020B0503020204020204" pitchFamily="34" charset="0"/>
              </a:rPr>
              <a:t>(</a:t>
            </a:r>
            <a:r>
              <a:rPr lang="en-US" sz="2900" i="1" dirty="0">
                <a:latin typeface="Corbel" panose="020B0503020204020204" pitchFamily="34" charset="0"/>
              </a:rPr>
              <a:t>F</a:t>
            </a:r>
            <a:r>
              <a:rPr lang="en-US" sz="2900" dirty="0">
                <a:latin typeface="Corbel" panose="020B0503020204020204" pitchFamily="34" charset="0"/>
              </a:rPr>
              <a:t>(1,26)= 1.591, </a:t>
            </a:r>
            <a:r>
              <a:rPr lang="en-US" sz="2900" i="1" dirty="0">
                <a:latin typeface="Corbel" panose="020B0503020204020204" pitchFamily="34" charset="0"/>
              </a:rPr>
              <a:t>p</a:t>
            </a:r>
            <a:r>
              <a:rPr lang="en-US" sz="2900" dirty="0">
                <a:latin typeface="Corbel" panose="020B0503020204020204" pitchFamily="34" charset="0"/>
              </a:rPr>
              <a:t> = 0.218)</a:t>
            </a:r>
          </a:p>
        </p:txBody>
      </p:sp>
      <p:sp>
        <p:nvSpPr>
          <p:cNvPr id="500" name="TextBox 499">
            <a:extLst>
              <a:ext uri="{FF2B5EF4-FFF2-40B4-BE49-F238E27FC236}">
                <a16:creationId xmlns:a16="http://schemas.microsoft.com/office/drawing/2014/main" id="{3B301B31-6462-4D9C-3556-6637D2D2DF93}"/>
              </a:ext>
            </a:extLst>
          </p:cNvPr>
          <p:cNvSpPr txBox="1"/>
          <p:nvPr/>
        </p:nvSpPr>
        <p:spPr>
          <a:xfrm>
            <a:off x="33801885" y="7273348"/>
            <a:ext cx="9005594" cy="2769989"/>
          </a:xfrm>
          <a:prstGeom prst="rect">
            <a:avLst/>
          </a:prstGeom>
          <a:noFill/>
        </p:spPr>
        <p:txBody>
          <a:bodyPr wrap="square">
            <a:spAutoFit/>
          </a:bodyPr>
          <a:lstStyle/>
          <a:p>
            <a:pPr marL="457200" indent="-457200">
              <a:buFont typeface="Arial" panose="020B0604020202020204" pitchFamily="34" charset="0"/>
              <a:buChar char="•"/>
            </a:pPr>
            <a:r>
              <a:rPr lang="en-US" sz="2900" dirty="0">
                <a:latin typeface="Corbel" panose="020B0503020204020204" pitchFamily="34" charset="0"/>
              </a:rPr>
              <a:t>Word-sort blocks were </a:t>
            </a:r>
            <a:r>
              <a:rPr lang="en-US" sz="2900" i="1" dirty="0">
                <a:latin typeface="Corbel" panose="020B0503020204020204" pitchFamily="34" charset="0"/>
              </a:rPr>
              <a:t>faster</a:t>
            </a:r>
            <a:r>
              <a:rPr lang="en-US" sz="2900" dirty="0">
                <a:latin typeface="Corbel" panose="020B0503020204020204" pitchFamily="34" charset="0"/>
              </a:rPr>
              <a:t> than picture-sort blocks (</a:t>
            </a:r>
            <a:r>
              <a:rPr lang="en-US" sz="2900" b="1" dirty="0">
                <a:latin typeface="Corbel" panose="020B0503020204020204" pitchFamily="34" charset="0"/>
              </a:rPr>
              <a:t>Main effect </a:t>
            </a:r>
            <a:r>
              <a:rPr lang="en-US" sz="2900" dirty="0">
                <a:latin typeface="Corbel" panose="020B0503020204020204" pitchFamily="34" charset="0"/>
              </a:rPr>
              <a:t>of block type: </a:t>
            </a:r>
            <a:r>
              <a:rPr lang="en-US" sz="2900" i="1" dirty="0">
                <a:latin typeface="Corbel" panose="020B0503020204020204" pitchFamily="34" charset="0"/>
              </a:rPr>
              <a:t>F</a:t>
            </a:r>
            <a:r>
              <a:rPr lang="en-US" sz="2900" dirty="0">
                <a:latin typeface="Corbel" panose="020B0503020204020204" pitchFamily="34" charset="0"/>
              </a:rPr>
              <a:t>(1,26)= 55.78, </a:t>
            </a:r>
            <a:r>
              <a:rPr lang="en-US" sz="2900" i="1" dirty="0">
                <a:latin typeface="Corbel" panose="020B0503020204020204" pitchFamily="34" charset="0"/>
              </a:rPr>
              <a:t>p</a:t>
            </a:r>
            <a:r>
              <a:rPr lang="en-US" sz="2900" dirty="0">
                <a:latin typeface="Corbel" panose="020B0503020204020204" pitchFamily="34" charset="0"/>
              </a:rPr>
              <a:t> &lt; 0.001 )</a:t>
            </a:r>
          </a:p>
          <a:p>
            <a:pPr marL="457200" indent="-457200">
              <a:buFont typeface="Arial" panose="020B0604020202020204" pitchFamily="34" charset="0"/>
              <a:buChar char="•"/>
            </a:pPr>
            <a:r>
              <a:rPr lang="en-US" sz="2900" dirty="0">
                <a:latin typeface="Corbel" panose="020B0503020204020204" pitchFamily="34" charset="0"/>
              </a:rPr>
              <a:t>This difference was </a:t>
            </a:r>
            <a:r>
              <a:rPr lang="en-US" sz="2900" i="1" dirty="0">
                <a:latin typeface="Corbel" panose="020B0503020204020204" pitchFamily="34" charset="0"/>
              </a:rPr>
              <a:t>biggest</a:t>
            </a:r>
            <a:r>
              <a:rPr lang="en-US" sz="2900" dirty="0">
                <a:latin typeface="Corbel" panose="020B0503020204020204" pitchFamily="34" charset="0"/>
              </a:rPr>
              <a:t> in word bias group (</a:t>
            </a:r>
            <a:r>
              <a:rPr lang="en-US" sz="2900" b="1" dirty="0">
                <a:latin typeface="Corbel" panose="020B0503020204020204" pitchFamily="34" charset="0"/>
              </a:rPr>
              <a:t>Interaction</a:t>
            </a:r>
            <a:r>
              <a:rPr lang="en-US" sz="2900" dirty="0">
                <a:latin typeface="Corbel" panose="020B0503020204020204" pitchFamily="34" charset="0"/>
              </a:rPr>
              <a:t>: </a:t>
            </a:r>
            <a:r>
              <a:rPr lang="en-US" sz="2900" i="1" dirty="0">
                <a:latin typeface="Corbel" panose="020B0503020204020204" pitchFamily="34" charset="0"/>
              </a:rPr>
              <a:t>F</a:t>
            </a:r>
            <a:r>
              <a:rPr lang="en-US" sz="2900" dirty="0">
                <a:latin typeface="Corbel" panose="020B0503020204020204" pitchFamily="34" charset="0"/>
              </a:rPr>
              <a:t>(1,26)= 8.35, </a:t>
            </a:r>
            <a:r>
              <a:rPr lang="en-US" sz="2900" i="1" dirty="0">
                <a:latin typeface="Corbel" panose="020B0503020204020204" pitchFamily="34" charset="0"/>
              </a:rPr>
              <a:t>p</a:t>
            </a:r>
            <a:r>
              <a:rPr lang="en-US" sz="2900" dirty="0">
                <a:latin typeface="Corbel" panose="020B0503020204020204" pitchFamily="34" charset="0"/>
              </a:rPr>
              <a:t> = 0.007)</a:t>
            </a:r>
          </a:p>
          <a:p>
            <a:pPr marL="457200" indent="-457200">
              <a:buFont typeface="Arial" panose="020B0604020202020204" pitchFamily="34" charset="0"/>
              <a:buChar char="•"/>
            </a:pPr>
            <a:r>
              <a:rPr lang="en-US" sz="2900" dirty="0">
                <a:latin typeface="Corbel" panose="020B0503020204020204" pitchFamily="34" charset="0"/>
              </a:rPr>
              <a:t>No differences in word biased versus picture biased (</a:t>
            </a:r>
            <a:r>
              <a:rPr lang="en-US" sz="2900" b="1" dirty="0">
                <a:latin typeface="Corbel" panose="020B0503020204020204" pitchFamily="34" charset="0"/>
              </a:rPr>
              <a:t>No main effect </a:t>
            </a:r>
            <a:r>
              <a:rPr lang="en-US" sz="2900" dirty="0">
                <a:latin typeface="Corbel" panose="020B0503020204020204" pitchFamily="34" charset="0"/>
              </a:rPr>
              <a:t>of format bias: </a:t>
            </a:r>
            <a:r>
              <a:rPr lang="en-US" sz="2900" i="1" dirty="0">
                <a:latin typeface="Corbel" panose="020B0503020204020204" pitchFamily="34" charset="0"/>
              </a:rPr>
              <a:t>F</a:t>
            </a:r>
            <a:r>
              <a:rPr lang="en-US" sz="2900" dirty="0">
                <a:latin typeface="Corbel" panose="020B0503020204020204" pitchFamily="34" charset="0"/>
              </a:rPr>
              <a:t>(1, 26)=0.023, </a:t>
            </a:r>
            <a:r>
              <a:rPr lang="en-US" sz="2900" i="1" dirty="0">
                <a:latin typeface="Corbel" panose="020B0503020204020204" pitchFamily="34" charset="0"/>
              </a:rPr>
              <a:t>p</a:t>
            </a:r>
            <a:r>
              <a:rPr lang="en-US" sz="2900" dirty="0">
                <a:latin typeface="Corbel" panose="020B0503020204020204" pitchFamily="34" charset="0"/>
              </a:rPr>
              <a:t>=0.88)</a:t>
            </a:r>
          </a:p>
        </p:txBody>
      </p:sp>
      <p:sp>
        <p:nvSpPr>
          <p:cNvPr id="16" name="TextBox 15">
            <a:extLst>
              <a:ext uri="{FF2B5EF4-FFF2-40B4-BE49-F238E27FC236}">
                <a16:creationId xmlns:a16="http://schemas.microsoft.com/office/drawing/2014/main" id="{6A7A9016-4540-EA0A-6FEE-A1C962EC3F72}"/>
              </a:ext>
            </a:extLst>
          </p:cNvPr>
          <p:cNvSpPr txBox="1"/>
          <p:nvPr/>
        </p:nvSpPr>
        <p:spPr>
          <a:xfrm>
            <a:off x="13103093" y="6582388"/>
            <a:ext cx="7595750" cy="892552"/>
          </a:xfrm>
          <a:prstGeom prst="rect">
            <a:avLst/>
          </a:prstGeom>
          <a:noFill/>
        </p:spPr>
        <p:txBody>
          <a:bodyPr wrap="square" rtlCol="0">
            <a:spAutoFit/>
          </a:bodyPr>
          <a:lstStyle/>
          <a:p>
            <a:pPr algn="ctr"/>
            <a:r>
              <a:rPr lang="en-US" sz="5200" dirty="0">
                <a:latin typeface="Corbel" panose="020B0503020204020204" pitchFamily="34" charset="0"/>
              </a:rPr>
              <a:t>Results</a:t>
            </a:r>
          </a:p>
        </p:txBody>
      </p:sp>
      <p:pic>
        <p:nvPicPr>
          <p:cNvPr id="17" name="Picture 16">
            <a:extLst>
              <a:ext uri="{FF2B5EF4-FFF2-40B4-BE49-F238E27FC236}">
                <a16:creationId xmlns:a16="http://schemas.microsoft.com/office/drawing/2014/main" id="{273E6FE8-3F16-A1CD-5456-749EE3BB1D02}"/>
              </a:ext>
            </a:extLst>
          </p:cNvPr>
          <p:cNvPicPr>
            <a:picLocks noChangeAspect="1"/>
          </p:cNvPicPr>
          <p:nvPr/>
        </p:nvPicPr>
        <p:blipFill>
          <a:blip r:embed="rId19"/>
          <a:stretch>
            <a:fillRect/>
          </a:stretch>
        </p:blipFill>
        <p:spPr>
          <a:xfrm>
            <a:off x="37792304" y="2122679"/>
            <a:ext cx="4123993" cy="2795985"/>
          </a:xfrm>
          <a:prstGeom prst="rect">
            <a:avLst/>
          </a:prstGeom>
        </p:spPr>
      </p:pic>
      <p:sp>
        <p:nvSpPr>
          <p:cNvPr id="21" name="TextBox 20">
            <a:extLst>
              <a:ext uri="{FF2B5EF4-FFF2-40B4-BE49-F238E27FC236}">
                <a16:creationId xmlns:a16="http://schemas.microsoft.com/office/drawing/2014/main" id="{FB1B6319-C2B9-B7AA-E53F-EB3880E85515}"/>
              </a:ext>
            </a:extLst>
          </p:cNvPr>
          <p:cNvSpPr txBox="1"/>
          <p:nvPr/>
        </p:nvSpPr>
        <p:spPr>
          <a:xfrm>
            <a:off x="1195640" y="21778441"/>
            <a:ext cx="10937868" cy="984885"/>
          </a:xfrm>
          <a:prstGeom prst="rect">
            <a:avLst/>
          </a:prstGeom>
          <a:noFill/>
        </p:spPr>
        <p:txBody>
          <a:bodyPr wrap="square" rtlCol="0">
            <a:spAutoFit/>
          </a:bodyPr>
          <a:lstStyle/>
          <a:p>
            <a:r>
              <a:rPr lang="en-US" sz="2900" u="sng" dirty="0">
                <a:latin typeface="Corbel" panose="020B0503020204020204" pitchFamily="34" charset="0"/>
              </a:rPr>
              <a:t>Picture and Word Bias Task</a:t>
            </a:r>
          </a:p>
          <a:p>
            <a:r>
              <a:rPr lang="en-US" sz="2800" dirty="0">
                <a:latin typeface="Corbel" panose="020B0503020204020204" pitchFamily="34" charset="0"/>
              </a:rPr>
              <a:t>N=185, M=40.05 years, 140 female; 4 blocks of 48 trials.</a:t>
            </a:r>
          </a:p>
        </p:txBody>
      </p:sp>
      <p:sp>
        <p:nvSpPr>
          <p:cNvPr id="25" name="TextBox 24">
            <a:extLst>
              <a:ext uri="{FF2B5EF4-FFF2-40B4-BE49-F238E27FC236}">
                <a16:creationId xmlns:a16="http://schemas.microsoft.com/office/drawing/2014/main" id="{6A284973-5A48-1E24-59C1-494774FDE3B5}"/>
              </a:ext>
            </a:extLst>
          </p:cNvPr>
          <p:cNvSpPr txBox="1"/>
          <p:nvPr/>
        </p:nvSpPr>
        <p:spPr>
          <a:xfrm>
            <a:off x="1175364" y="24931649"/>
            <a:ext cx="9881945" cy="984885"/>
          </a:xfrm>
          <a:prstGeom prst="rect">
            <a:avLst/>
          </a:prstGeom>
          <a:noFill/>
        </p:spPr>
        <p:txBody>
          <a:bodyPr wrap="square" rtlCol="0">
            <a:spAutoFit/>
          </a:bodyPr>
          <a:lstStyle/>
          <a:p>
            <a:r>
              <a:rPr lang="en-US" sz="2900" u="sng" dirty="0">
                <a:latin typeface="Corbel" panose="020B0503020204020204" pitchFamily="34" charset="0"/>
              </a:rPr>
              <a:t>Sensitivity to Conflict</a:t>
            </a:r>
          </a:p>
          <a:p>
            <a:r>
              <a:rPr lang="en-US" sz="2900" dirty="0">
                <a:latin typeface="Corbel" panose="020B0503020204020204" pitchFamily="34" charset="0"/>
              </a:rPr>
              <a:t>Incongruent RT- Congruent RT</a:t>
            </a:r>
          </a:p>
        </p:txBody>
      </p:sp>
      <p:pic>
        <p:nvPicPr>
          <p:cNvPr id="36" name="Picture 35">
            <a:extLst>
              <a:ext uri="{FF2B5EF4-FFF2-40B4-BE49-F238E27FC236}">
                <a16:creationId xmlns:a16="http://schemas.microsoft.com/office/drawing/2014/main" id="{DA57CB28-4E53-AC49-4D02-B4D445F652A1}"/>
              </a:ext>
            </a:extLst>
          </p:cNvPr>
          <p:cNvPicPr>
            <a:picLocks noChangeAspect="1"/>
          </p:cNvPicPr>
          <p:nvPr/>
        </p:nvPicPr>
        <p:blipFill>
          <a:blip r:embed="rId20"/>
          <a:stretch>
            <a:fillRect/>
          </a:stretch>
        </p:blipFill>
        <p:spPr>
          <a:xfrm>
            <a:off x="27879937" y="7803568"/>
            <a:ext cx="4647669" cy="2923854"/>
          </a:xfrm>
          <a:prstGeom prst="rect">
            <a:avLst/>
          </a:prstGeom>
          <a:ln>
            <a:solidFill>
              <a:schemeClr val="tx1"/>
            </a:solidFill>
          </a:ln>
        </p:spPr>
      </p:pic>
      <p:sp>
        <p:nvSpPr>
          <p:cNvPr id="60" name="Rectangle 59">
            <a:extLst>
              <a:ext uri="{FF2B5EF4-FFF2-40B4-BE49-F238E27FC236}">
                <a16:creationId xmlns:a16="http://schemas.microsoft.com/office/drawing/2014/main" id="{5E4F3075-4EAD-B222-3777-23FA072944E4}"/>
              </a:ext>
            </a:extLst>
          </p:cNvPr>
          <p:cNvSpPr/>
          <p:nvPr/>
        </p:nvSpPr>
        <p:spPr>
          <a:xfrm>
            <a:off x="17456217" y="26414591"/>
            <a:ext cx="967573" cy="759237"/>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Picture 56" descr="A blue background with a white symbol on it&#10;&#10;Description automatically generated">
            <a:extLst>
              <a:ext uri="{FF2B5EF4-FFF2-40B4-BE49-F238E27FC236}">
                <a16:creationId xmlns:a16="http://schemas.microsoft.com/office/drawing/2014/main" id="{6C70A50E-8300-0032-3B54-0B3676483B49}"/>
              </a:ext>
            </a:extLst>
          </p:cNvPr>
          <p:cNvPicPr>
            <a:picLocks noChangeAspect="1"/>
          </p:cNvPicPr>
          <p:nvPr/>
        </p:nvPicPr>
        <p:blipFill>
          <a:blip r:embed="rId16"/>
          <a:stretch>
            <a:fillRect/>
          </a:stretch>
        </p:blipFill>
        <p:spPr>
          <a:xfrm>
            <a:off x="14508329" y="26069387"/>
            <a:ext cx="1997134" cy="2229338"/>
          </a:xfrm>
          <a:prstGeom prst="rect">
            <a:avLst/>
          </a:prstGeom>
        </p:spPr>
      </p:pic>
      <p:sp>
        <p:nvSpPr>
          <p:cNvPr id="62" name="Rectangle 61">
            <a:extLst>
              <a:ext uri="{FF2B5EF4-FFF2-40B4-BE49-F238E27FC236}">
                <a16:creationId xmlns:a16="http://schemas.microsoft.com/office/drawing/2014/main" id="{08888418-A346-6FA4-F1A1-2DB924E0D55A}"/>
              </a:ext>
            </a:extLst>
          </p:cNvPr>
          <p:cNvSpPr/>
          <p:nvPr/>
        </p:nvSpPr>
        <p:spPr>
          <a:xfrm>
            <a:off x="15082391" y="27350240"/>
            <a:ext cx="866622" cy="759237"/>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Right Arrow 462">
            <a:extLst>
              <a:ext uri="{FF2B5EF4-FFF2-40B4-BE49-F238E27FC236}">
                <a16:creationId xmlns:a16="http://schemas.microsoft.com/office/drawing/2014/main" id="{9D17FA72-CEF4-D454-0131-AFFAB1927530}"/>
              </a:ext>
            </a:extLst>
          </p:cNvPr>
          <p:cNvSpPr/>
          <p:nvPr/>
        </p:nvSpPr>
        <p:spPr>
          <a:xfrm>
            <a:off x="13737394" y="27552568"/>
            <a:ext cx="1071967" cy="43038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TextBox 473">
            <a:extLst>
              <a:ext uri="{FF2B5EF4-FFF2-40B4-BE49-F238E27FC236}">
                <a16:creationId xmlns:a16="http://schemas.microsoft.com/office/drawing/2014/main" id="{7A462377-1E64-2319-EEC5-A988AF9CC629}"/>
              </a:ext>
            </a:extLst>
          </p:cNvPr>
          <p:cNvSpPr txBox="1"/>
          <p:nvPr/>
        </p:nvSpPr>
        <p:spPr>
          <a:xfrm>
            <a:off x="33672153" y="17841571"/>
            <a:ext cx="9243486" cy="8125301"/>
          </a:xfrm>
          <a:prstGeom prst="rect">
            <a:avLst/>
          </a:prstGeom>
          <a:noFill/>
        </p:spPr>
        <p:txBody>
          <a:bodyPr wrap="square">
            <a:spAutoFit/>
          </a:bodyPr>
          <a:lstStyle/>
          <a:p>
            <a:pPr marL="342900" indent="-342900">
              <a:buFont typeface="Arial" panose="020B0604020202020204" pitchFamily="34" charset="0"/>
              <a:buChar char="•"/>
            </a:pPr>
            <a:r>
              <a:rPr lang="en-US" sz="2900" dirty="0">
                <a:solidFill>
                  <a:schemeClr val="tx1"/>
                </a:solidFill>
                <a:latin typeface="Corbel" panose="020B0503020204020204" pitchFamily="34" charset="0"/>
              </a:rPr>
              <a:t>Across both experiments, individuals differed in the information format they attended to and the strength of their decision-making bias.</a:t>
            </a:r>
          </a:p>
          <a:p>
            <a:pPr marL="342900" indent="-342900">
              <a:buFont typeface="Arial" panose="020B0604020202020204" pitchFamily="34" charset="0"/>
              <a:buChar char="•"/>
            </a:pPr>
            <a:r>
              <a:rPr lang="en-US" sz="2900" dirty="0">
                <a:solidFill>
                  <a:schemeClr val="tx1"/>
                </a:solidFill>
                <a:latin typeface="Corbel" panose="020B0503020204020204" pitchFamily="34" charset="0"/>
              </a:rPr>
              <a:t>More biased deciders tended to be faster and less sensitive to conflicting information.</a:t>
            </a:r>
          </a:p>
          <a:p>
            <a:pPr marL="342900" indent="-342900">
              <a:buFont typeface="Arial" panose="020B0604020202020204" pitchFamily="34" charset="0"/>
              <a:buChar char="•"/>
            </a:pPr>
            <a:r>
              <a:rPr lang="en-US" sz="2900" dirty="0">
                <a:solidFill>
                  <a:schemeClr val="tx1"/>
                </a:solidFill>
                <a:latin typeface="Corbel" panose="020B0503020204020204" pitchFamily="34" charset="0"/>
              </a:rPr>
              <a:t>Both word and picture biased groups responded faster to word-sort blocks. This is likely due to words being processed more readily.</a:t>
            </a:r>
          </a:p>
          <a:p>
            <a:pPr marL="342900" indent="-342900">
              <a:buFont typeface="Arial" panose="020B0604020202020204" pitchFamily="34" charset="0"/>
              <a:buChar char="•"/>
            </a:pPr>
            <a:r>
              <a:rPr lang="en-US" sz="2900" dirty="0">
                <a:solidFill>
                  <a:schemeClr val="tx1"/>
                </a:solidFill>
                <a:latin typeface="Corbel" panose="020B0503020204020204" pitchFamily="34" charset="0"/>
              </a:rPr>
              <a:t>Contrary to the General Decision Strategy Hypothesis, preliminary DDM results suggest that biased and neutral groups do not differ in decision threshold.</a:t>
            </a:r>
          </a:p>
          <a:p>
            <a:pPr marL="342900" indent="-342900">
              <a:buFont typeface="Arial" panose="020B0604020202020204" pitchFamily="34" charset="0"/>
              <a:buChar char="•"/>
            </a:pPr>
            <a:r>
              <a:rPr lang="en-US" sz="2900" dirty="0">
                <a:solidFill>
                  <a:schemeClr val="tx1"/>
                </a:solidFill>
                <a:latin typeface="Corbel" panose="020B0503020204020204" pitchFamily="34" charset="0"/>
              </a:rPr>
              <a:t>Word-biased participants were faster in word-sort blocks than in picture-sort blocks, but the reverse was not true for picture-biased participants.</a:t>
            </a:r>
          </a:p>
          <a:p>
            <a:pPr marL="342900" indent="-342900">
              <a:buFont typeface="Arial" panose="020B0604020202020204" pitchFamily="34" charset="0"/>
              <a:buChar char="•"/>
            </a:pPr>
            <a:r>
              <a:rPr lang="en-US" sz="2900" dirty="0">
                <a:solidFill>
                  <a:schemeClr val="tx1"/>
                </a:solidFill>
                <a:latin typeface="Corbel" panose="020B0503020204020204" pitchFamily="34" charset="0"/>
              </a:rPr>
              <a:t>These preliminary results are partially consistent with the Relative Skill Hypothesis, as ease of processing words affects drift rate overall, but does not fully account for differences in word/picture biases.</a:t>
            </a:r>
          </a:p>
        </p:txBody>
      </p:sp>
      <p:sp>
        <p:nvSpPr>
          <p:cNvPr id="5" name="TextBox 4">
            <a:extLst>
              <a:ext uri="{FF2B5EF4-FFF2-40B4-BE49-F238E27FC236}">
                <a16:creationId xmlns:a16="http://schemas.microsoft.com/office/drawing/2014/main" id="{06C396B3-5B21-52C2-93F0-2C909CBCA359}"/>
              </a:ext>
            </a:extLst>
          </p:cNvPr>
          <p:cNvSpPr txBox="1"/>
          <p:nvPr/>
        </p:nvSpPr>
        <p:spPr>
          <a:xfrm>
            <a:off x="1192967" y="19445340"/>
            <a:ext cx="9570405" cy="1877437"/>
          </a:xfrm>
          <a:prstGeom prst="rect">
            <a:avLst/>
          </a:prstGeom>
          <a:noFill/>
        </p:spPr>
        <p:txBody>
          <a:bodyPr wrap="square">
            <a:spAutoFit/>
          </a:bodyPr>
          <a:lstStyle/>
          <a:p>
            <a:r>
              <a:rPr lang="en-US" sz="2900" u="sng" dirty="0">
                <a:latin typeface="Corbel" panose="020B0503020204020204" pitchFamily="34" charset="0"/>
                <a:cs typeface="Arial" panose="020B0604020202020204" pitchFamily="34" charset="0"/>
              </a:rPr>
              <a:t>Hypothesis</a:t>
            </a:r>
            <a:r>
              <a:rPr lang="en-US" sz="2900" dirty="0">
                <a:latin typeface="Corbel" panose="020B0503020204020204" pitchFamily="34" charset="0"/>
                <a:cs typeface="Arial" panose="020B0604020202020204" pitchFamily="34" charset="0"/>
              </a:rPr>
              <a:t>: </a:t>
            </a:r>
            <a:r>
              <a:rPr lang="en-US" sz="2900" dirty="0">
                <a:latin typeface="Corbel" panose="020B0503020204020204" pitchFamily="34" charset="0"/>
              </a:rPr>
              <a:t>Individuals who have a </a:t>
            </a:r>
            <a:r>
              <a:rPr lang="en-US" sz="2900" i="1" dirty="0">
                <a:latin typeface="Corbel" panose="020B0503020204020204" pitchFamily="34" charset="0"/>
              </a:rPr>
              <a:t>stronger </a:t>
            </a:r>
            <a:r>
              <a:rPr lang="en-US" sz="2900" dirty="0">
                <a:latin typeface="Corbel" panose="020B0503020204020204" pitchFamily="34" charset="0"/>
              </a:rPr>
              <a:t>bias toward one format will be less likely to notice conflicting information in the other format and thus slow down less in conflicting trials, resulting in a </a:t>
            </a:r>
            <a:r>
              <a:rPr lang="en-US" sz="2900" i="1" dirty="0">
                <a:latin typeface="Corbel" panose="020B0503020204020204" pitchFamily="34" charset="0"/>
              </a:rPr>
              <a:t>smaller</a:t>
            </a:r>
            <a:r>
              <a:rPr lang="en-US" sz="2900" dirty="0">
                <a:latin typeface="Corbel" panose="020B0503020204020204" pitchFamily="34" charset="0"/>
              </a:rPr>
              <a:t> incongruency effect. </a:t>
            </a:r>
            <a:endParaRPr lang="en-US" sz="3000" u="sng" dirty="0">
              <a:latin typeface="Corbel" panose="020B0503020204020204" pitchFamily="34" charset="0"/>
              <a:cs typeface="Arial" panose="020B0604020202020204" pitchFamily="34" charset="0"/>
            </a:endParaRPr>
          </a:p>
        </p:txBody>
      </p:sp>
      <p:grpSp>
        <p:nvGrpSpPr>
          <p:cNvPr id="45" name="Group 44">
            <a:extLst>
              <a:ext uri="{FF2B5EF4-FFF2-40B4-BE49-F238E27FC236}">
                <a16:creationId xmlns:a16="http://schemas.microsoft.com/office/drawing/2014/main" id="{84C3532D-377C-1D3B-CD87-33B6E35FE0B1}"/>
              </a:ext>
            </a:extLst>
          </p:cNvPr>
          <p:cNvGrpSpPr/>
          <p:nvPr/>
        </p:nvGrpSpPr>
        <p:grpSpPr>
          <a:xfrm>
            <a:off x="12026824" y="7465209"/>
            <a:ext cx="4256091" cy="3689987"/>
            <a:chOff x="11982917" y="7486802"/>
            <a:chExt cx="4256091" cy="3689987"/>
          </a:xfrm>
        </p:grpSpPr>
        <p:grpSp>
          <p:nvGrpSpPr>
            <p:cNvPr id="40" name="Group 39">
              <a:extLst>
                <a:ext uri="{FF2B5EF4-FFF2-40B4-BE49-F238E27FC236}">
                  <a16:creationId xmlns:a16="http://schemas.microsoft.com/office/drawing/2014/main" id="{5F5D922D-D43A-61C8-D522-4632BA577FFC}"/>
                </a:ext>
              </a:extLst>
            </p:cNvPr>
            <p:cNvGrpSpPr/>
            <p:nvPr/>
          </p:nvGrpSpPr>
          <p:grpSpPr>
            <a:xfrm>
              <a:off x="11982917" y="7486802"/>
              <a:ext cx="4256091" cy="3689987"/>
              <a:chOff x="11982917" y="7486802"/>
              <a:chExt cx="4256091" cy="3689987"/>
            </a:xfrm>
          </p:grpSpPr>
          <p:pic>
            <p:nvPicPr>
              <p:cNvPr id="35" name="Picture 34">
                <a:extLst>
                  <a:ext uri="{FF2B5EF4-FFF2-40B4-BE49-F238E27FC236}">
                    <a16:creationId xmlns:a16="http://schemas.microsoft.com/office/drawing/2014/main" id="{33E3FF55-8087-BB31-6B12-15C3C0CB66F8}"/>
                  </a:ext>
                </a:extLst>
              </p:cNvPr>
              <p:cNvPicPr>
                <a:picLocks noChangeAspect="1"/>
              </p:cNvPicPr>
              <p:nvPr/>
            </p:nvPicPr>
            <p:blipFill>
              <a:blip r:embed="rId21"/>
              <a:srcRect r="27438"/>
              <a:stretch>
                <a:fillRect/>
              </a:stretch>
            </p:blipFill>
            <p:spPr>
              <a:xfrm>
                <a:off x="11982917" y="7486802"/>
                <a:ext cx="4256091" cy="3689987"/>
              </a:xfrm>
              <a:prstGeom prst="rect">
                <a:avLst/>
              </a:prstGeom>
              <a:ln>
                <a:solidFill>
                  <a:schemeClr val="tx1"/>
                </a:solidFill>
              </a:ln>
            </p:spPr>
          </p:pic>
          <p:pic>
            <p:nvPicPr>
              <p:cNvPr id="39" name="Picture 38">
                <a:extLst>
                  <a:ext uri="{FF2B5EF4-FFF2-40B4-BE49-F238E27FC236}">
                    <a16:creationId xmlns:a16="http://schemas.microsoft.com/office/drawing/2014/main" id="{A89239C4-0159-C8AC-E517-EE58F9945987}"/>
                  </a:ext>
                </a:extLst>
              </p:cNvPr>
              <p:cNvPicPr>
                <a:picLocks noChangeAspect="1"/>
              </p:cNvPicPr>
              <p:nvPr/>
            </p:nvPicPr>
            <p:blipFill>
              <a:blip r:embed="rId22"/>
              <a:stretch>
                <a:fillRect/>
              </a:stretch>
            </p:blipFill>
            <p:spPr>
              <a:xfrm>
                <a:off x="11992242" y="7571731"/>
                <a:ext cx="4240749" cy="513697"/>
              </a:xfrm>
              <a:prstGeom prst="rect">
                <a:avLst/>
              </a:prstGeom>
            </p:spPr>
          </p:pic>
        </p:grpSp>
        <p:pic>
          <p:nvPicPr>
            <p:cNvPr id="41" name="Picture 40">
              <a:extLst>
                <a:ext uri="{FF2B5EF4-FFF2-40B4-BE49-F238E27FC236}">
                  <a16:creationId xmlns:a16="http://schemas.microsoft.com/office/drawing/2014/main" id="{04CED2FF-67E8-9144-4B2B-912C6AD8DE26}"/>
                </a:ext>
              </a:extLst>
            </p:cNvPr>
            <p:cNvPicPr>
              <a:picLocks noChangeAspect="1"/>
            </p:cNvPicPr>
            <p:nvPr/>
          </p:nvPicPr>
          <p:blipFill>
            <a:blip r:embed="rId22"/>
            <a:stretch>
              <a:fillRect/>
            </a:stretch>
          </p:blipFill>
          <p:spPr>
            <a:xfrm rot="5400000" flipV="1">
              <a:off x="15937822" y="7785597"/>
              <a:ext cx="474454" cy="125211"/>
            </a:xfrm>
            <a:prstGeom prst="rect">
              <a:avLst/>
            </a:prstGeom>
          </p:spPr>
        </p:pic>
      </p:grpSp>
      <p:sp>
        <p:nvSpPr>
          <p:cNvPr id="22" name="TextBox 21">
            <a:extLst>
              <a:ext uri="{FF2B5EF4-FFF2-40B4-BE49-F238E27FC236}">
                <a16:creationId xmlns:a16="http://schemas.microsoft.com/office/drawing/2014/main" id="{7BE14F4D-347E-6B8E-F3C2-C986A1B32EB7}"/>
              </a:ext>
            </a:extLst>
          </p:cNvPr>
          <p:cNvSpPr txBox="1"/>
          <p:nvPr/>
        </p:nvSpPr>
        <p:spPr>
          <a:xfrm>
            <a:off x="13103093" y="8403250"/>
            <a:ext cx="950901" cy="343620"/>
          </a:xfrm>
          <a:prstGeom prst="rect">
            <a:avLst/>
          </a:prstGeom>
          <a:noFill/>
        </p:spPr>
        <p:txBody>
          <a:bodyPr wrap="none" rtlCol="0">
            <a:spAutoFit/>
          </a:bodyPr>
          <a:lstStyle/>
          <a:p>
            <a:r>
              <a:rPr lang="en-US" dirty="0">
                <a:solidFill>
                  <a:srgbClr val="FF0000"/>
                </a:solidFill>
              </a:rPr>
              <a:t>BIASED</a:t>
            </a:r>
          </a:p>
        </p:txBody>
      </p:sp>
      <p:sp>
        <p:nvSpPr>
          <p:cNvPr id="23" name="TextBox 22">
            <a:extLst>
              <a:ext uri="{FF2B5EF4-FFF2-40B4-BE49-F238E27FC236}">
                <a16:creationId xmlns:a16="http://schemas.microsoft.com/office/drawing/2014/main" id="{861DDEEB-776C-C62C-719F-EE9250AAB049}"/>
              </a:ext>
            </a:extLst>
          </p:cNvPr>
          <p:cNvSpPr txBox="1"/>
          <p:nvPr/>
        </p:nvSpPr>
        <p:spPr>
          <a:xfrm>
            <a:off x="14255488" y="8032106"/>
            <a:ext cx="1160895" cy="343620"/>
          </a:xfrm>
          <a:prstGeom prst="rect">
            <a:avLst/>
          </a:prstGeom>
          <a:noFill/>
        </p:spPr>
        <p:txBody>
          <a:bodyPr wrap="none" rtlCol="0">
            <a:spAutoFit/>
          </a:bodyPr>
          <a:lstStyle/>
          <a:p>
            <a:r>
              <a:rPr lang="en-US" dirty="0">
                <a:solidFill>
                  <a:srgbClr val="1F78B4"/>
                </a:solidFill>
              </a:rPr>
              <a:t>NEUTRAL</a:t>
            </a:r>
          </a:p>
        </p:txBody>
      </p:sp>
      <p:sp>
        <p:nvSpPr>
          <p:cNvPr id="46" name="TextBox 45">
            <a:extLst>
              <a:ext uri="{FF2B5EF4-FFF2-40B4-BE49-F238E27FC236}">
                <a16:creationId xmlns:a16="http://schemas.microsoft.com/office/drawing/2014/main" id="{7B6C6B39-F852-0213-0C75-6A4AF7B2AE1D}"/>
              </a:ext>
            </a:extLst>
          </p:cNvPr>
          <p:cNvSpPr txBox="1"/>
          <p:nvPr/>
        </p:nvSpPr>
        <p:spPr>
          <a:xfrm>
            <a:off x="12170766" y="7652157"/>
            <a:ext cx="4027064" cy="261610"/>
          </a:xfrm>
          <a:prstGeom prst="rect">
            <a:avLst/>
          </a:prstGeom>
          <a:noFill/>
        </p:spPr>
        <p:txBody>
          <a:bodyPr wrap="none" rtlCol="0">
            <a:spAutoFit/>
          </a:bodyPr>
          <a:lstStyle/>
          <a:p>
            <a:r>
              <a:rPr lang="en-US" sz="1100" dirty="0"/>
              <a:t>Mean Response Times by Bias Categorization and Trial Type</a:t>
            </a:r>
          </a:p>
        </p:txBody>
      </p:sp>
      <p:sp>
        <p:nvSpPr>
          <p:cNvPr id="47" name="Rectangle 46">
            <a:extLst>
              <a:ext uri="{FF2B5EF4-FFF2-40B4-BE49-F238E27FC236}">
                <a16:creationId xmlns:a16="http://schemas.microsoft.com/office/drawing/2014/main" id="{2635AB6B-3C8B-C21A-3CF6-0489F8A8CB72}"/>
              </a:ext>
            </a:extLst>
          </p:cNvPr>
          <p:cNvSpPr/>
          <p:nvPr/>
        </p:nvSpPr>
        <p:spPr>
          <a:xfrm>
            <a:off x="11855412" y="11279995"/>
            <a:ext cx="10051490" cy="384721"/>
          </a:xfrm>
          <a:prstGeom prst="rect">
            <a:avLst/>
          </a:prstGeom>
        </p:spPr>
        <p:txBody>
          <a:bodyPr wrap="square">
            <a:spAutoFit/>
          </a:bodyPr>
          <a:lstStyle/>
          <a:p>
            <a:r>
              <a:rPr lang="en-US" sz="1900" b="1" i="1" dirty="0">
                <a:latin typeface="Corbel" panose="020B0503020204020204" pitchFamily="34" charset="0"/>
                <a:cs typeface="Georgia"/>
              </a:rPr>
              <a:t>Figure 3 (Left)</a:t>
            </a:r>
            <a:r>
              <a:rPr lang="en-US" sz="1900" i="1" dirty="0">
                <a:latin typeface="Corbel" panose="020B0503020204020204" pitchFamily="34" charset="0"/>
                <a:cs typeface="Georgia"/>
              </a:rPr>
              <a:t>.</a:t>
            </a:r>
            <a:r>
              <a:rPr lang="en-US" sz="1900" dirty="0">
                <a:latin typeface="Corbel" panose="020B0503020204020204" pitchFamily="34" charset="0"/>
                <a:cs typeface="Georgia"/>
              </a:rPr>
              <a:t> CST response times by format bias group.</a:t>
            </a:r>
          </a:p>
        </p:txBody>
      </p:sp>
      <p:sp>
        <p:nvSpPr>
          <p:cNvPr id="48" name="Rectangle 47">
            <a:extLst>
              <a:ext uri="{FF2B5EF4-FFF2-40B4-BE49-F238E27FC236}">
                <a16:creationId xmlns:a16="http://schemas.microsoft.com/office/drawing/2014/main" id="{66FB287E-8AD3-C53A-F331-3B900B56E8DD}"/>
              </a:ext>
            </a:extLst>
          </p:cNvPr>
          <p:cNvSpPr/>
          <p:nvPr/>
        </p:nvSpPr>
        <p:spPr>
          <a:xfrm>
            <a:off x="11834925" y="11570527"/>
            <a:ext cx="9803659" cy="400110"/>
          </a:xfrm>
          <a:prstGeom prst="rect">
            <a:avLst/>
          </a:prstGeom>
        </p:spPr>
        <p:txBody>
          <a:bodyPr wrap="square">
            <a:spAutoFit/>
          </a:bodyPr>
          <a:lstStyle/>
          <a:p>
            <a:r>
              <a:rPr lang="en-US" sz="1900" b="1" i="1" dirty="0">
                <a:latin typeface="Corbel" panose="020B0503020204020204" pitchFamily="34" charset="0"/>
                <a:cs typeface="Georgia"/>
              </a:rPr>
              <a:t>Figure 4 (Right)</a:t>
            </a:r>
            <a:r>
              <a:rPr lang="en-US" sz="1900" i="1" dirty="0">
                <a:latin typeface="Corbel" panose="020B0503020204020204" pitchFamily="34" charset="0"/>
                <a:cs typeface="Georgia"/>
              </a:rPr>
              <a:t>.</a:t>
            </a:r>
            <a:r>
              <a:rPr lang="en-US" sz="1900" dirty="0">
                <a:latin typeface="Corbel" panose="020B0503020204020204" pitchFamily="34" charset="0"/>
                <a:cs typeface="Georgia"/>
              </a:rPr>
              <a:t> </a:t>
            </a:r>
            <a:r>
              <a:rPr lang="en-US" sz="2000" dirty="0">
                <a:latin typeface="Corbel" panose="020B0503020204020204" pitchFamily="34" charset="0"/>
                <a:cs typeface="Georgia"/>
              </a:rPr>
              <a:t>Correlation between incongruency effect and absolute bias score.</a:t>
            </a:r>
            <a:endParaRPr lang="en-US" sz="1900" dirty="0">
              <a:latin typeface="Corbel" panose="020B0503020204020204" pitchFamily="34" charset="0"/>
              <a:cs typeface="Georgia"/>
            </a:endParaRPr>
          </a:p>
        </p:txBody>
      </p:sp>
      <p:sp>
        <p:nvSpPr>
          <p:cNvPr id="50" name="TextBox 49">
            <a:extLst>
              <a:ext uri="{FF2B5EF4-FFF2-40B4-BE49-F238E27FC236}">
                <a16:creationId xmlns:a16="http://schemas.microsoft.com/office/drawing/2014/main" id="{FA3FECE9-2177-35E9-AC80-FE9EE5DE51D7}"/>
              </a:ext>
            </a:extLst>
          </p:cNvPr>
          <p:cNvSpPr txBox="1"/>
          <p:nvPr/>
        </p:nvSpPr>
        <p:spPr>
          <a:xfrm>
            <a:off x="22961472" y="24720686"/>
            <a:ext cx="9687765" cy="892552"/>
          </a:xfrm>
          <a:prstGeom prst="rect">
            <a:avLst/>
          </a:prstGeom>
          <a:noFill/>
        </p:spPr>
        <p:txBody>
          <a:bodyPr wrap="square" rtlCol="0">
            <a:spAutoFit/>
          </a:bodyPr>
          <a:lstStyle/>
          <a:p>
            <a:pPr algn="ctr"/>
            <a:r>
              <a:rPr lang="en-US" sz="5200" dirty="0">
                <a:latin typeface="Corbel" panose="020B0503020204020204" pitchFamily="34" charset="0"/>
              </a:rPr>
              <a:t>Results: DDM</a:t>
            </a:r>
          </a:p>
        </p:txBody>
      </p:sp>
      <p:grpSp>
        <p:nvGrpSpPr>
          <p:cNvPr id="51" name="Group 50">
            <a:extLst>
              <a:ext uri="{FF2B5EF4-FFF2-40B4-BE49-F238E27FC236}">
                <a16:creationId xmlns:a16="http://schemas.microsoft.com/office/drawing/2014/main" id="{71508BD4-7446-E7FB-936D-897D089C3363}"/>
              </a:ext>
            </a:extLst>
          </p:cNvPr>
          <p:cNvGrpSpPr/>
          <p:nvPr/>
        </p:nvGrpSpPr>
        <p:grpSpPr>
          <a:xfrm>
            <a:off x="4195565" y="10798109"/>
            <a:ext cx="4043974" cy="3850060"/>
            <a:chOff x="4195565" y="10798109"/>
            <a:chExt cx="3683135" cy="3850060"/>
          </a:xfrm>
        </p:grpSpPr>
        <p:pic>
          <p:nvPicPr>
            <p:cNvPr id="53" name="Picture 52" descr="A screenshot of a computer game&#10;&#10;Description automatically generated">
              <a:extLst>
                <a:ext uri="{FF2B5EF4-FFF2-40B4-BE49-F238E27FC236}">
                  <a16:creationId xmlns:a16="http://schemas.microsoft.com/office/drawing/2014/main" id="{87706953-9597-6C63-6A11-46F6E68E6C68}"/>
                </a:ext>
              </a:extLst>
            </p:cNvPr>
            <p:cNvPicPr>
              <a:picLocks noChangeAspect="1"/>
            </p:cNvPicPr>
            <p:nvPr/>
          </p:nvPicPr>
          <p:blipFill rotWithShape="1">
            <a:blip r:embed="rId23"/>
            <a:srcRect l="4655" t="5415" r="4836" b="-381"/>
            <a:stretch/>
          </p:blipFill>
          <p:spPr>
            <a:xfrm>
              <a:off x="4195565" y="10798109"/>
              <a:ext cx="3683135" cy="3833424"/>
            </a:xfrm>
            <a:prstGeom prst="rect">
              <a:avLst/>
            </a:prstGeom>
            <a:ln>
              <a:solidFill>
                <a:schemeClr val="tx1"/>
              </a:solidFill>
            </a:ln>
          </p:spPr>
        </p:pic>
        <p:sp>
          <p:nvSpPr>
            <p:cNvPr id="56" name="Rectangle 55">
              <a:extLst>
                <a:ext uri="{FF2B5EF4-FFF2-40B4-BE49-F238E27FC236}">
                  <a16:creationId xmlns:a16="http://schemas.microsoft.com/office/drawing/2014/main" id="{617E6F13-6158-0239-5778-6131E40045E0}"/>
                </a:ext>
              </a:extLst>
            </p:cNvPr>
            <p:cNvSpPr/>
            <p:nvPr/>
          </p:nvSpPr>
          <p:spPr>
            <a:xfrm>
              <a:off x="5052646" y="12474435"/>
              <a:ext cx="2063262" cy="2113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C0917904-C983-BD5C-C947-281AA43B97B4}"/>
                </a:ext>
              </a:extLst>
            </p:cNvPr>
            <p:cNvSpPr/>
            <p:nvPr/>
          </p:nvSpPr>
          <p:spPr>
            <a:xfrm>
              <a:off x="4882294" y="14374418"/>
              <a:ext cx="2174997" cy="2316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34931882-069D-8775-9552-E99923EBBB53}"/>
                </a:ext>
              </a:extLst>
            </p:cNvPr>
            <p:cNvSpPr txBox="1"/>
            <p:nvPr/>
          </p:nvSpPr>
          <p:spPr>
            <a:xfrm>
              <a:off x="5167166" y="12362381"/>
              <a:ext cx="1830508" cy="338554"/>
            </a:xfrm>
            <a:prstGeom prst="rect">
              <a:avLst/>
            </a:prstGeom>
            <a:noFill/>
          </p:spPr>
          <p:txBody>
            <a:bodyPr wrap="square" rtlCol="0">
              <a:spAutoFit/>
            </a:bodyPr>
            <a:lstStyle/>
            <a:p>
              <a:r>
                <a:rPr lang="en-US" sz="1600" b="1" dirty="0">
                  <a:latin typeface="+mj-lt"/>
                </a:rPr>
                <a:t>Congruent (75%)</a:t>
              </a:r>
            </a:p>
          </p:txBody>
        </p:sp>
        <p:sp>
          <p:nvSpPr>
            <p:cNvPr id="448" name="TextBox 447">
              <a:extLst>
                <a:ext uri="{FF2B5EF4-FFF2-40B4-BE49-F238E27FC236}">
                  <a16:creationId xmlns:a16="http://schemas.microsoft.com/office/drawing/2014/main" id="{7569293F-AA88-3447-8FE1-951E726F2814}"/>
                </a:ext>
              </a:extLst>
            </p:cNvPr>
            <p:cNvSpPr txBox="1"/>
            <p:nvPr/>
          </p:nvSpPr>
          <p:spPr>
            <a:xfrm>
              <a:off x="5167166" y="14309615"/>
              <a:ext cx="2042526" cy="338554"/>
            </a:xfrm>
            <a:prstGeom prst="rect">
              <a:avLst/>
            </a:prstGeom>
            <a:noFill/>
          </p:spPr>
          <p:txBody>
            <a:bodyPr wrap="square" rtlCol="0">
              <a:spAutoFit/>
            </a:bodyPr>
            <a:lstStyle/>
            <a:p>
              <a:r>
                <a:rPr lang="en-US" sz="1600" b="1" dirty="0">
                  <a:latin typeface="+mj-lt"/>
                </a:rPr>
                <a:t>Incongruent (25%)</a:t>
              </a:r>
            </a:p>
          </p:txBody>
        </p:sp>
      </p:grpSp>
      <p:sp>
        <p:nvSpPr>
          <p:cNvPr id="449" name="Rectangle 448">
            <a:extLst>
              <a:ext uri="{FF2B5EF4-FFF2-40B4-BE49-F238E27FC236}">
                <a16:creationId xmlns:a16="http://schemas.microsoft.com/office/drawing/2014/main" id="{6723AA98-F369-5F8B-39D8-D683F3E03018}"/>
              </a:ext>
            </a:extLst>
          </p:cNvPr>
          <p:cNvSpPr/>
          <p:nvPr/>
        </p:nvSpPr>
        <p:spPr>
          <a:xfrm>
            <a:off x="1231230" y="29693522"/>
            <a:ext cx="10051490" cy="692497"/>
          </a:xfrm>
          <a:prstGeom prst="rect">
            <a:avLst/>
          </a:prstGeom>
        </p:spPr>
        <p:txBody>
          <a:bodyPr wrap="square">
            <a:spAutoFit/>
          </a:bodyPr>
          <a:lstStyle/>
          <a:p>
            <a:r>
              <a:rPr lang="en-US" sz="1900" b="1" i="1" dirty="0">
                <a:latin typeface="Corbel" panose="020B0503020204020204" pitchFamily="34" charset="0"/>
                <a:cs typeface="Georgia"/>
              </a:rPr>
              <a:t>Figure 2</a:t>
            </a:r>
            <a:r>
              <a:rPr lang="en-US" sz="1900" i="1" dirty="0">
                <a:latin typeface="Corbel" panose="020B0503020204020204" pitchFamily="34" charset="0"/>
                <a:cs typeface="Georgia"/>
              </a:rPr>
              <a:t>.</a:t>
            </a:r>
            <a:r>
              <a:rPr lang="en-US" sz="1900" dirty="0">
                <a:latin typeface="Corbel" panose="020B0503020204020204" pitchFamily="34" charset="0"/>
                <a:cs typeface="Georgia"/>
              </a:rPr>
              <a:t> </a:t>
            </a:r>
            <a:r>
              <a:rPr lang="en-US" sz="2000" i="1" dirty="0">
                <a:latin typeface="Corbel" panose="020B0503020204020204" pitchFamily="34" charset="0"/>
                <a:cs typeface="Georgia"/>
              </a:rPr>
              <a:t>Participant distribution of picture vs. word selection during the CST.</a:t>
            </a:r>
          </a:p>
          <a:p>
            <a:endParaRPr lang="en-US" sz="1900" dirty="0">
              <a:latin typeface="Corbel" panose="020B0503020204020204" pitchFamily="34" charset="0"/>
              <a:cs typeface="Georgia"/>
            </a:endParaRPr>
          </a:p>
        </p:txBody>
      </p:sp>
      <p:grpSp>
        <p:nvGrpSpPr>
          <p:cNvPr id="3" name="Group 2">
            <a:extLst>
              <a:ext uri="{FF2B5EF4-FFF2-40B4-BE49-F238E27FC236}">
                <a16:creationId xmlns:a16="http://schemas.microsoft.com/office/drawing/2014/main" id="{1A50306D-7C79-FC68-A549-C4B14C53502A}"/>
              </a:ext>
            </a:extLst>
          </p:cNvPr>
          <p:cNvGrpSpPr/>
          <p:nvPr/>
        </p:nvGrpSpPr>
        <p:grpSpPr>
          <a:xfrm>
            <a:off x="35411851" y="13376530"/>
            <a:ext cx="5581443" cy="3630806"/>
            <a:chOff x="35411851" y="12547936"/>
            <a:chExt cx="5581443" cy="3630806"/>
          </a:xfrm>
        </p:grpSpPr>
        <p:pic>
          <p:nvPicPr>
            <p:cNvPr id="499" name="Picture 498">
              <a:extLst>
                <a:ext uri="{FF2B5EF4-FFF2-40B4-BE49-F238E27FC236}">
                  <a16:creationId xmlns:a16="http://schemas.microsoft.com/office/drawing/2014/main" id="{654EF522-1485-4FDE-6F0D-EE270FFB13E0}"/>
                </a:ext>
              </a:extLst>
            </p:cNvPr>
            <p:cNvPicPr>
              <a:picLocks noChangeAspect="1"/>
            </p:cNvPicPr>
            <p:nvPr/>
          </p:nvPicPr>
          <p:blipFill>
            <a:blip r:embed="rId24"/>
            <a:stretch>
              <a:fillRect/>
            </a:stretch>
          </p:blipFill>
          <p:spPr>
            <a:xfrm>
              <a:off x="35411851" y="12547936"/>
              <a:ext cx="5581443" cy="3630806"/>
            </a:xfrm>
            <a:prstGeom prst="rect">
              <a:avLst/>
            </a:prstGeom>
            <a:ln>
              <a:solidFill>
                <a:schemeClr val="tx1"/>
              </a:solidFill>
            </a:ln>
          </p:spPr>
        </p:pic>
        <p:cxnSp>
          <p:nvCxnSpPr>
            <p:cNvPr id="450" name="Straight Connector 449">
              <a:extLst>
                <a:ext uri="{FF2B5EF4-FFF2-40B4-BE49-F238E27FC236}">
                  <a16:creationId xmlns:a16="http://schemas.microsoft.com/office/drawing/2014/main" id="{97A366A4-8A79-DA7B-06B3-963A03971789}"/>
                </a:ext>
              </a:extLst>
            </p:cNvPr>
            <p:cNvCxnSpPr>
              <a:cxnSpLocks/>
            </p:cNvCxnSpPr>
            <p:nvPr/>
          </p:nvCxnSpPr>
          <p:spPr>
            <a:xfrm>
              <a:off x="37329035" y="12945422"/>
              <a:ext cx="24237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E809462D-E3B0-AC77-2A69-2587E8D69E96}"/>
                </a:ext>
              </a:extLst>
            </p:cNvPr>
            <p:cNvSpPr txBox="1"/>
            <p:nvPr/>
          </p:nvSpPr>
          <p:spPr>
            <a:xfrm>
              <a:off x="38375935" y="12899997"/>
              <a:ext cx="1121568" cy="261610"/>
            </a:xfrm>
            <a:prstGeom prst="rect">
              <a:avLst/>
            </a:prstGeom>
            <a:noFill/>
          </p:spPr>
          <p:txBody>
            <a:bodyPr wrap="square" rtlCol="0">
              <a:spAutoFit/>
            </a:bodyPr>
            <a:lstStyle/>
            <a:p>
              <a:r>
                <a:rPr lang="en-US" sz="1050" dirty="0" err="1"/>
                <a:t>n.s</a:t>
              </a:r>
              <a:r>
                <a:rPr lang="en-US" sz="1050" dirty="0"/>
                <a:t>.</a:t>
              </a:r>
            </a:p>
          </p:txBody>
        </p:sp>
      </p:grpSp>
      <p:pic>
        <p:nvPicPr>
          <p:cNvPr id="470" name="Picture 469">
            <a:extLst>
              <a:ext uri="{FF2B5EF4-FFF2-40B4-BE49-F238E27FC236}">
                <a16:creationId xmlns:a16="http://schemas.microsoft.com/office/drawing/2014/main" id="{35A673E6-C938-9F7B-7742-B5CF63E38C14}"/>
              </a:ext>
            </a:extLst>
          </p:cNvPr>
          <p:cNvPicPr>
            <a:picLocks noChangeAspect="1"/>
          </p:cNvPicPr>
          <p:nvPr/>
        </p:nvPicPr>
        <p:blipFill>
          <a:blip r:embed="rId25"/>
          <a:stretch>
            <a:fillRect/>
          </a:stretch>
        </p:blipFill>
        <p:spPr>
          <a:xfrm>
            <a:off x="27797999" y="25858165"/>
            <a:ext cx="4983929" cy="3122977"/>
          </a:xfrm>
          <a:prstGeom prst="rect">
            <a:avLst/>
          </a:prstGeom>
          <a:ln>
            <a:solidFill>
              <a:schemeClr val="tx1"/>
            </a:solidFill>
          </a:ln>
        </p:spPr>
      </p:pic>
      <p:pic>
        <p:nvPicPr>
          <p:cNvPr id="476" name="Picture 475">
            <a:extLst>
              <a:ext uri="{FF2B5EF4-FFF2-40B4-BE49-F238E27FC236}">
                <a16:creationId xmlns:a16="http://schemas.microsoft.com/office/drawing/2014/main" id="{5A511F86-00F4-9649-BE77-0E65FB56D382}"/>
              </a:ext>
            </a:extLst>
          </p:cNvPr>
          <p:cNvPicPr>
            <a:picLocks noChangeAspect="1"/>
          </p:cNvPicPr>
          <p:nvPr/>
        </p:nvPicPr>
        <p:blipFill>
          <a:blip r:embed="rId26"/>
          <a:stretch>
            <a:fillRect/>
          </a:stretch>
        </p:blipFill>
        <p:spPr>
          <a:xfrm>
            <a:off x="3155712" y="25958988"/>
            <a:ext cx="6216749" cy="3731757"/>
          </a:xfrm>
          <a:prstGeom prst="rect">
            <a:avLst/>
          </a:prstGeom>
          <a:ln>
            <a:solidFill>
              <a:schemeClr val="tx1"/>
            </a:solidFill>
          </a:ln>
        </p:spPr>
      </p:pic>
      <p:grpSp>
        <p:nvGrpSpPr>
          <p:cNvPr id="483" name="Group 482">
            <a:extLst>
              <a:ext uri="{FF2B5EF4-FFF2-40B4-BE49-F238E27FC236}">
                <a16:creationId xmlns:a16="http://schemas.microsoft.com/office/drawing/2014/main" id="{261CB2FF-CAA3-F9C1-4A72-50C5F79BB5EF}"/>
              </a:ext>
            </a:extLst>
          </p:cNvPr>
          <p:cNvGrpSpPr/>
          <p:nvPr/>
        </p:nvGrpSpPr>
        <p:grpSpPr>
          <a:xfrm>
            <a:off x="23073101" y="7807717"/>
            <a:ext cx="4674447" cy="2919705"/>
            <a:chOff x="23073101" y="7807717"/>
            <a:chExt cx="4674447" cy="2919705"/>
          </a:xfrm>
        </p:grpSpPr>
        <p:grpSp>
          <p:nvGrpSpPr>
            <p:cNvPr id="479" name="Group 478">
              <a:extLst>
                <a:ext uri="{FF2B5EF4-FFF2-40B4-BE49-F238E27FC236}">
                  <a16:creationId xmlns:a16="http://schemas.microsoft.com/office/drawing/2014/main" id="{D6EEB9F4-16C0-5E07-E0DA-E58F76592EF4}"/>
                </a:ext>
              </a:extLst>
            </p:cNvPr>
            <p:cNvGrpSpPr/>
            <p:nvPr/>
          </p:nvGrpSpPr>
          <p:grpSpPr>
            <a:xfrm>
              <a:off x="23073101" y="7807717"/>
              <a:ext cx="4674447" cy="2919705"/>
              <a:chOff x="22886487" y="7795124"/>
              <a:chExt cx="4674447" cy="2898943"/>
            </a:xfrm>
          </p:grpSpPr>
          <p:pic>
            <p:nvPicPr>
              <p:cNvPr id="477" name="Picture 476">
                <a:extLst>
                  <a:ext uri="{FF2B5EF4-FFF2-40B4-BE49-F238E27FC236}">
                    <a16:creationId xmlns:a16="http://schemas.microsoft.com/office/drawing/2014/main" id="{FFEC0AE7-7745-8699-F108-18C5A7C8C389}"/>
                  </a:ext>
                </a:extLst>
              </p:cNvPr>
              <p:cNvPicPr>
                <a:picLocks noChangeAspect="1"/>
              </p:cNvPicPr>
              <p:nvPr/>
            </p:nvPicPr>
            <p:blipFill>
              <a:blip r:embed="rId27"/>
              <a:stretch>
                <a:fillRect/>
              </a:stretch>
            </p:blipFill>
            <p:spPr>
              <a:xfrm>
                <a:off x="22886487" y="7795124"/>
                <a:ext cx="4674447" cy="2898943"/>
              </a:xfrm>
              <a:prstGeom prst="rect">
                <a:avLst/>
              </a:prstGeom>
              <a:ln>
                <a:solidFill>
                  <a:schemeClr val="tx1"/>
                </a:solidFill>
              </a:ln>
            </p:spPr>
          </p:pic>
          <p:pic>
            <p:nvPicPr>
              <p:cNvPr id="478" name="Picture 477">
                <a:extLst>
                  <a:ext uri="{FF2B5EF4-FFF2-40B4-BE49-F238E27FC236}">
                    <a16:creationId xmlns:a16="http://schemas.microsoft.com/office/drawing/2014/main" id="{C6517F05-A21F-41EA-451B-9DF7F0CB0C49}"/>
                  </a:ext>
                </a:extLst>
              </p:cNvPr>
              <p:cNvPicPr>
                <a:picLocks noChangeAspect="1"/>
              </p:cNvPicPr>
              <p:nvPr/>
            </p:nvPicPr>
            <p:blipFill>
              <a:blip r:embed="rId28"/>
              <a:stretch>
                <a:fillRect/>
              </a:stretch>
            </p:blipFill>
            <p:spPr>
              <a:xfrm>
                <a:off x="26341590" y="9076435"/>
                <a:ext cx="753525" cy="235378"/>
              </a:xfrm>
              <a:prstGeom prst="rect">
                <a:avLst/>
              </a:prstGeom>
            </p:spPr>
          </p:pic>
        </p:grpSp>
        <p:pic>
          <p:nvPicPr>
            <p:cNvPr id="481" name="Picture 480">
              <a:extLst>
                <a:ext uri="{FF2B5EF4-FFF2-40B4-BE49-F238E27FC236}">
                  <a16:creationId xmlns:a16="http://schemas.microsoft.com/office/drawing/2014/main" id="{14B086F7-1B88-D378-5C1C-4F632133DB8C}"/>
                </a:ext>
              </a:extLst>
            </p:cNvPr>
            <p:cNvPicPr>
              <a:picLocks noChangeAspect="1"/>
            </p:cNvPicPr>
            <p:nvPr/>
          </p:nvPicPr>
          <p:blipFill>
            <a:blip r:embed="rId29"/>
            <a:stretch>
              <a:fillRect/>
            </a:stretch>
          </p:blipFill>
          <p:spPr>
            <a:xfrm>
              <a:off x="26476038" y="9191001"/>
              <a:ext cx="1030401" cy="565059"/>
            </a:xfrm>
            <a:prstGeom prst="rect">
              <a:avLst/>
            </a:prstGeom>
          </p:spPr>
        </p:pic>
      </p:grpSp>
      <p:pic>
        <p:nvPicPr>
          <p:cNvPr id="480" name="Picture 479">
            <a:extLst>
              <a:ext uri="{FF2B5EF4-FFF2-40B4-BE49-F238E27FC236}">
                <a16:creationId xmlns:a16="http://schemas.microsoft.com/office/drawing/2014/main" id="{BC363B75-2E0B-4CE8-FD27-F78F076E0477}"/>
              </a:ext>
            </a:extLst>
          </p:cNvPr>
          <p:cNvPicPr>
            <a:picLocks noChangeAspect="1"/>
          </p:cNvPicPr>
          <p:nvPr/>
        </p:nvPicPr>
        <p:blipFill>
          <a:blip r:embed="rId30"/>
          <a:stretch>
            <a:fillRect/>
          </a:stretch>
        </p:blipFill>
        <p:spPr>
          <a:xfrm>
            <a:off x="26528203" y="9111967"/>
            <a:ext cx="753526" cy="413224"/>
          </a:xfrm>
          <a:prstGeom prst="rect">
            <a:avLst/>
          </a:prstGeom>
        </p:spPr>
      </p:pic>
      <p:sp>
        <p:nvSpPr>
          <p:cNvPr id="486" name="TextBox 485">
            <a:extLst>
              <a:ext uri="{FF2B5EF4-FFF2-40B4-BE49-F238E27FC236}">
                <a16:creationId xmlns:a16="http://schemas.microsoft.com/office/drawing/2014/main" id="{5A96A5EA-9733-FD29-4C0A-CCF89AF9C07D}"/>
              </a:ext>
            </a:extLst>
          </p:cNvPr>
          <p:cNvSpPr txBox="1"/>
          <p:nvPr/>
        </p:nvSpPr>
        <p:spPr>
          <a:xfrm>
            <a:off x="28766677" y="8332226"/>
            <a:ext cx="704039" cy="261610"/>
          </a:xfrm>
          <a:prstGeom prst="rect">
            <a:avLst/>
          </a:prstGeom>
          <a:noFill/>
        </p:spPr>
        <p:txBody>
          <a:bodyPr wrap="none" rtlCol="0">
            <a:spAutoFit/>
          </a:bodyPr>
          <a:lstStyle/>
          <a:p>
            <a:r>
              <a:rPr lang="en-US" sz="1100" dirty="0">
                <a:solidFill>
                  <a:srgbClr val="FF0000"/>
                </a:solidFill>
              </a:rPr>
              <a:t>BIASED</a:t>
            </a:r>
          </a:p>
        </p:txBody>
      </p:sp>
      <p:sp>
        <p:nvSpPr>
          <p:cNvPr id="491" name="TextBox 490">
            <a:extLst>
              <a:ext uri="{FF2B5EF4-FFF2-40B4-BE49-F238E27FC236}">
                <a16:creationId xmlns:a16="http://schemas.microsoft.com/office/drawing/2014/main" id="{7EDC2B77-7D5E-456E-F9AD-1BD00D0BD94A}"/>
              </a:ext>
            </a:extLst>
          </p:cNvPr>
          <p:cNvSpPr txBox="1"/>
          <p:nvPr/>
        </p:nvSpPr>
        <p:spPr>
          <a:xfrm>
            <a:off x="29810632" y="8240254"/>
            <a:ext cx="958662" cy="261610"/>
          </a:xfrm>
          <a:prstGeom prst="rect">
            <a:avLst/>
          </a:prstGeom>
          <a:noFill/>
        </p:spPr>
        <p:txBody>
          <a:bodyPr wrap="square" rtlCol="0">
            <a:spAutoFit/>
          </a:bodyPr>
          <a:lstStyle/>
          <a:p>
            <a:r>
              <a:rPr lang="en-US" sz="1100" dirty="0">
                <a:solidFill>
                  <a:srgbClr val="1F78B4"/>
                </a:solidFill>
              </a:rPr>
              <a:t>NEUTRAL</a:t>
            </a:r>
          </a:p>
        </p:txBody>
      </p:sp>
      <p:pic>
        <p:nvPicPr>
          <p:cNvPr id="64" name="Picture 63">
            <a:extLst>
              <a:ext uri="{FF2B5EF4-FFF2-40B4-BE49-F238E27FC236}">
                <a16:creationId xmlns:a16="http://schemas.microsoft.com/office/drawing/2014/main" id="{08DC7B99-03B1-9586-4F58-65652AE4F359}"/>
              </a:ext>
            </a:extLst>
          </p:cNvPr>
          <p:cNvPicPr>
            <a:picLocks noChangeAspect="1"/>
          </p:cNvPicPr>
          <p:nvPr/>
        </p:nvPicPr>
        <p:blipFill>
          <a:blip r:embed="rId31"/>
          <a:stretch>
            <a:fillRect/>
          </a:stretch>
        </p:blipFill>
        <p:spPr>
          <a:xfrm>
            <a:off x="16442435" y="7716578"/>
            <a:ext cx="5108134" cy="3099077"/>
          </a:xfrm>
          <a:prstGeom prst="rect">
            <a:avLst/>
          </a:prstGeom>
          <a:ln>
            <a:solidFill>
              <a:schemeClr val="tx1"/>
            </a:solidFill>
          </a:ln>
        </p:spPr>
      </p:pic>
      <p:pic>
        <p:nvPicPr>
          <p:cNvPr id="6" name="Picture 5">
            <a:extLst>
              <a:ext uri="{FF2B5EF4-FFF2-40B4-BE49-F238E27FC236}">
                <a16:creationId xmlns:a16="http://schemas.microsoft.com/office/drawing/2014/main" id="{340C1006-2A07-355B-06DD-889398BA6194}"/>
              </a:ext>
            </a:extLst>
          </p:cNvPr>
          <p:cNvPicPr>
            <a:picLocks noChangeAspect="1"/>
          </p:cNvPicPr>
          <p:nvPr/>
        </p:nvPicPr>
        <p:blipFill>
          <a:blip r:embed="rId32"/>
          <a:stretch>
            <a:fillRect/>
          </a:stretch>
        </p:blipFill>
        <p:spPr>
          <a:xfrm>
            <a:off x="22706051" y="25885118"/>
            <a:ext cx="4971188" cy="3094100"/>
          </a:xfrm>
          <a:prstGeom prst="rect">
            <a:avLst/>
          </a:prstGeom>
          <a:ln>
            <a:solidFill>
              <a:schemeClr val="tx1"/>
            </a:solidFill>
          </a:ln>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otalTime>68845</TotalTime>
  <Words>1429</Words>
  <Application>Microsoft Macintosh PowerPoint</Application>
  <PresentationFormat>Custom</PresentationFormat>
  <Paragraphs>99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Corbel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CCDL</dc:creator>
  <cp:lastModifiedBy>Maia Czerwonka</cp:lastModifiedBy>
  <cp:revision>204</cp:revision>
  <cp:lastPrinted>2025-11-17T20:02:07Z</cp:lastPrinted>
  <dcterms:created xsi:type="dcterms:W3CDTF">2016-08-03T16:34:14Z</dcterms:created>
  <dcterms:modified xsi:type="dcterms:W3CDTF">2025-12-10T21:17:22Z</dcterms:modified>
</cp:coreProperties>
</file>